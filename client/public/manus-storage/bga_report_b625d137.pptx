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122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各位同仁，今天我们聚焦一个关键挑战：0.3 Pitch BGA 印刷短路问题。这个专项技术报告，将深入剖析我们如何通过系统性优化，显著提升了生产良率。我们将从问题根源出发，逐步揭示解决方案，并分享实战中的宝贵经验。我的目标是，通过今天的分享，为大家提供一套可复制、可推广的精细化制程管理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我们先来看项目背景与核心挑战。当前，微小化是行业大趋势，0.3 Pitch BGA 已成为高密度组装的主流。但这也带来了严峻的物理瓶颈，焊盘间隙仅约0.1毫米，对印刷精度提出了极致要求。初期试产时，我们面临着高达7.5%的SPI桥接率，这严重阻碍了产能，导致频繁清锡和返修。我们的核心挑战，就是在这种几乎零容错的物理极限下，实现量产良率的稳步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对如此严峻的挑战，我们进行了多维度的根因分析。首先，钢网设计是关键，开口面积比不足导致锡膏释放不稳定，边缘毛刺渗锡。其次，锡膏本身的粘度波动和颗粒度，对细间距脱模的流动性影响巨大。再者，印刷参数设置不当，如压力过大或脱模速度过快，直接诱发了桥接。最后，设备状态，特别是DEK印刷机的擦拭效能和视觉对位精度，也累积了制程误差。这些因素共同导致了短路问题的频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针对根因分析的结果，我们的核心对策之一，就是对钢网进行“三维”优化。首先是开口尺寸的精准缩减，从0.20毫米优化到0.18毫米，这直接增加了焊盘间的物理安全间距，从源头阻断了渗锡。其次，我们微调了钢网厚度，从0.10毫米减至0.08毫米，这显著提升了锡膏释放率，确保了印刷厚度的一致性。最后，我们升级了材料工艺，采用了激光切割、电抛光和纳米涂层技术，大幅降低了锡膏与孔壁的粘连力。这些优化措施，共同构筑了防止短路的物理屏障。接下来，我们将探讨印刷参数的闭环调机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我们来看核心对策二，印刷参数的闭环调机逻辑。这部分是基于我们对0.3 Pitch BGA的深入理解，通过精细化调整，实现了印刷质量的显著提升。我们将刮刀压力从9kgf优化到5.5kgf，这有效消除了挤压渗锡，确保了锡膏边缘的清晰度。同时，我们增加了脱模行程，并设定了0.5mm/s的极慢速脱模，这有效防止了锡膏与网板粘连导致的拉尖和桥接。最后，我们采用了“湿擦+真空+干擦”的强力擦拭组合，彻底清除了网孔底部的残留，保证了印刷的一致性。这些措施共同构成了我们解决0.3 Pitch BGA印刷短路问题的关键。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，我们来看一下这些优化措施带来的量化改善效果。从SPI桥接率对比来看，我们的改进是显著的。首件一次合格率从85.0%提升到了99.8%，这是一个17.4%的巨大飞跃。清锡频率也从每5片擦拭一次，提升到了每15片擦拭一次，效率提升了300%。更重要的是，炉后短路率从5000 PPM大幅降低到小于100 PPM，完全达到了我们的目标。这些数据充分证明了我们通过参数闭环优化，成功实现了0.3 Pitch BGA制程能力的跨越式提升。接下来，我们将对这些成果进行总结，并探讨如何将其标准化。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最后，我们来总结一下这次项目，并探讨如何将这些宝贵的经验标准化输出。我们成功攻克了0.3 Pitch BGA印刷短路这个行业难题，通过“钢网+参数”的双重优化，实现了极小间距下的稳定量产。我们还将这些实战经验沉淀下来，输出了《细间距 BGA 钢网设计与印刷参数优化指引》，这使得我们的个人经验转化为了部门可复制的工艺资产。这不仅推动了工艺管理从“经验驱动”向“数据驱动”转型，也通过参数闭环显著提升了产线的稼动率与一次合格率。我们的目标是“以技术突破瓶颈，以标准驱动品质”，我们将继续努力，为公司创造更大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26109" y="1671749"/>
            <a:ext cx="5691783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300" b="1" kern="0" spc="-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0.3 Pitch BGA 印刷短路改善
专项技术报告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2476202" y="2911859"/>
            <a:ext cx="419159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3" dirty="0">
                <a:solidFill>
                  <a:srgbClr val="007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TECH SOLUTION REPORT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3197721" y="3474430"/>
            <a:ext cx="2748558" cy="475059"/>
          </a:xfrm>
          <a:prstGeom prst="rect">
            <a:avLst/>
          </a:prstGeom>
          <a:solidFill>
            <a:srgbClr val="0074D9">
              <a:alpha val="10000"/>
            </a:srgbClr>
          </a:solidFill>
          <a:ln w="9144">
            <a:solidFill>
              <a:srgbClr val="0074D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3433465" y="3595874"/>
            <a:ext cx="227707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主导人：钱刚 (SMT ME 主管)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5721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34522" y="57150"/>
            <a:ext cx="10287000" cy="5572125"/>
          </a:xfrm>
          <a:prstGeom prst="rect">
            <a:avLst/>
          </a:prstGeom>
          <a:solidFill>
            <a:srgbClr val="001F3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628650" y="699222"/>
            <a:ext cx="2314575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项目背景与核心挑战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351044" y="776911"/>
            <a:ext cx="1421606" cy="192881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8351044" y="776911"/>
            <a:ext cx="1421606" cy="192881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BACKGROUND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407963" y="1689552"/>
            <a:ext cx="4856979" cy="1529433"/>
          </a:xfrm>
          <a:prstGeom prst="rect">
            <a:avLst/>
          </a:prstGeom>
          <a:solidFill>
            <a:srgbClr val="0074D9">
              <a:alpha val="10000"/>
            </a:srgbClr>
          </a:solidFill>
          <a:ln w="9144">
            <a:solidFill>
              <a:srgbClr val="007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842963" y="1989590"/>
            <a:ext cx="40005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行业趋势与物理瓶颈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42964" y="2304243"/>
            <a:ext cx="3851690" cy="17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zh-CN" alt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微小化需求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：0.3 Pitch BGA 成为高密度组装的主流选择。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42964" y="2558502"/>
            <a:ext cx="4029074" cy="17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间距极限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：焊盘间隙仅约 0.1mm，对印刷精度提出严苛挑战。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50681" y="1775278"/>
            <a:ext cx="4429125" cy="1443707"/>
          </a:xfrm>
          <a:prstGeom prst="rect">
            <a:avLst/>
          </a:prstGeom>
          <a:solidFill>
            <a:srgbClr val="0074D9">
              <a:alpha val="10000"/>
            </a:srgbClr>
          </a:solidFill>
          <a:ln w="9144">
            <a:solidFill>
              <a:srgbClr val="007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5557838" y="1989590"/>
            <a:ext cx="40005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现状痛点分析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659061" y="2364637"/>
            <a:ext cx="3350418" cy="17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高不良率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：初始试产 SPI 桥接率高达 </a:t>
            </a:r>
            <a:r>
              <a:rPr lang="en-US" sz="950" dirty="0">
                <a:solidFill>
                  <a:srgbClr val="FFD6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659061" y="2636099"/>
            <a:ext cx="3427788" cy="171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产能受阻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：频繁清锡与返修严重制约生产 UPH。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8650" y="3633322"/>
            <a:ext cx="9144000" cy="51792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3"/>
          <p:cNvSpPr/>
          <p:nvPr/>
        </p:nvSpPr>
        <p:spPr>
          <a:xfrm>
            <a:off x="2528888" y="3776197"/>
            <a:ext cx="54864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核心挑战：在容错率几乎为零的物理极限下，实现量产良率的稳步提升。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5721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" y="57150"/>
            <a:ext cx="10287000" cy="5572125"/>
          </a:xfrm>
          <a:prstGeom prst="rect">
            <a:avLst/>
          </a:prstGeom>
          <a:solidFill>
            <a:srgbClr val="001F3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864394" y="699222"/>
            <a:ext cx="890825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根因分析：多维度失效定位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628650" y="1404668"/>
            <a:ext cx="4464844" cy="106977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74D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3"/>
          <p:cNvSpPr/>
          <p:nvPr/>
        </p:nvSpPr>
        <p:spPr>
          <a:xfrm>
            <a:off x="842963" y="1618980"/>
            <a:ext cx="428625" cy="428625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3" y="1733280"/>
            <a:ext cx="200025" cy="2000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50181" y="1618980"/>
            <a:ext cx="34290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 钢网设计 (Stencil Design)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1450181" y="1902944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开口面积比（Area Ratio）不足，导致锡膏释放率不稳定，边缘易产生毛刺渗锡。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5307806" y="1404668"/>
            <a:ext cx="4464844" cy="106977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74D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7"/>
          <p:cNvSpPr/>
          <p:nvPr/>
        </p:nvSpPr>
        <p:spPr>
          <a:xfrm>
            <a:off x="5522119" y="1618980"/>
            <a:ext cx="428625" cy="428625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8920" y="1733280"/>
            <a:ext cx="175022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29338" y="1618980"/>
            <a:ext cx="34290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 锡膏特性 (Solder Paste)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6129338" y="1902944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粘度波动与颗粒度（Type 4 vs Type 5）对细间距脱模的流动性影响显著。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628650" y="2688757"/>
            <a:ext cx="4464844" cy="1069777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74D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1"/>
          <p:cNvSpPr/>
          <p:nvPr/>
        </p:nvSpPr>
        <p:spPr>
          <a:xfrm>
            <a:off x="842963" y="2888782"/>
            <a:ext cx="428625" cy="428625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3" y="3003082"/>
            <a:ext cx="200025" cy="2000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50181" y="2888782"/>
            <a:ext cx="34290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 印刷参数 (Process Params)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450181" y="3172746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压力过大导致网下渗锡，脱模速度过快引起锡膏拉尖，直接诱发桥接。</a:t>
            </a:r>
            <a:endParaRPr lang="en-US" sz="850" dirty="0"/>
          </a:p>
        </p:txBody>
      </p:sp>
      <p:sp>
        <p:nvSpPr>
          <p:cNvPr id="21" name="Shape 14"/>
          <p:cNvSpPr/>
          <p:nvPr/>
        </p:nvSpPr>
        <p:spPr>
          <a:xfrm>
            <a:off x="5307806" y="2674469"/>
            <a:ext cx="4464844" cy="105548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74D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5"/>
          <p:cNvSpPr/>
          <p:nvPr/>
        </p:nvSpPr>
        <p:spPr>
          <a:xfrm>
            <a:off x="5522119" y="2888782"/>
            <a:ext cx="428625" cy="428625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6419" y="3003082"/>
            <a:ext cx="200025" cy="2000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129338" y="2888782"/>
            <a:ext cx="3230761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 设备状态 (Machine Status)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6129338" y="3172746"/>
            <a:ext cx="32307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DEK 印刷机擦拭效能不足或视觉对位精度漂移，累积制程误差。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5721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" y="64184"/>
            <a:ext cx="10287000" cy="5572125"/>
          </a:xfrm>
          <a:prstGeom prst="rect">
            <a:avLst/>
          </a:prstGeom>
          <a:solidFill>
            <a:srgbClr val="001F3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628650" y="739406"/>
            <a:ext cx="405017" cy="267891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628650" y="739406"/>
            <a:ext cx="405017" cy="267891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76542" y="699222"/>
            <a:ext cx="3857625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核心对策一：钢网“三维”优化方案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628650" y="1618115"/>
            <a:ext cx="2905134" cy="181412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5"/>
          <p:cNvSpPr/>
          <p:nvPr/>
        </p:nvSpPr>
        <p:spPr>
          <a:xfrm>
            <a:off x="628650" y="1618115"/>
            <a:ext cx="2905134" cy="42863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842963" y="1832428"/>
            <a:ext cx="24765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DIMENSION 01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42963" y="2061028"/>
            <a:ext cx="247650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开口尺寸优化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42963" y="2471793"/>
            <a:ext cx="247650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精准缩减开口尺寸，增加焊盘间的物理安全间距，从源头阻断渗锡路径。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42963" y="2987539"/>
            <a:ext cx="247650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D6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0.20 → 0.18 mm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748097" y="1618115"/>
            <a:ext cx="2905134" cy="181412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3748097" y="1618115"/>
            <a:ext cx="2905134" cy="42863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3962409" y="1832428"/>
            <a:ext cx="24765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DIMENSION 02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962409" y="2061028"/>
            <a:ext cx="247650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厚度规格微调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962409" y="2471793"/>
            <a:ext cx="247650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优化面积比（Area Ratio），提升锡膏释放率，确保印刷厚度的一致性。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962409" y="2987539"/>
            <a:ext cx="247650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D6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0.10 → 0.08 mm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867544" y="1618115"/>
            <a:ext cx="2905134" cy="181412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6867544" y="1618115"/>
            <a:ext cx="2905134" cy="42863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7081856" y="1832428"/>
            <a:ext cx="24765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DIMENSION 03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7081856" y="2061028"/>
            <a:ext cx="247650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材料工艺升级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081856" y="2471793"/>
            <a:ext cx="247650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采用激光切割+电抛光+纳米涂层（FG/Nano），降低锡膏与孔壁的粘连力。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081856" y="2944676"/>
            <a:ext cx="247650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D6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FG / Nano Coating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28650" y="3818000"/>
            <a:ext cx="9144000" cy="775097"/>
          </a:xfrm>
          <a:prstGeom prst="rect">
            <a:avLst/>
          </a:prstGeom>
          <a:solidFill>
            <a:srgbClr val="0074D9">
              <a:alpha val="20000"/>
            </a:srgbClr>
          </a:solidFill>
          <a:ln w="9144">
            <a:solidFill>
              <a:srgbClr val="007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3"/>
          <p:cNvSpPr/>
          <p:nvPr/>
        </p:nvSpPr>
        <p:spPr>
          <a:xfrm>
            <a:off x="1740564" y="3996593"/>
            <a:ext cx="10287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优化核心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1740564" y="4168043"/>
            <a:ext cx="102870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增加焊盘间距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635931" y="4014453"/>
            <a:ext cx="130086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释放率提升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4635931" y="4185903"/>
            <a:ext cx="130086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+15% Efficiency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803459" y="3996593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物理屏障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7803459" y="4168043"/>
            <a:ext cx="85725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纳米防粘连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1500" y="428625"/>
            <a:ext cx="8001000" cy="87516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571500" y="1275215"/>
            <a:ext cx="8001000" cy="28575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571500" y="726904"/>
            <a:ext cx="757238" cy="178594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571500" y="726904"/>
            <a:ext cx="757238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02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1471613" y="642072"/>
            <a:ext cx="41148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核心对策二：印刷参数闭环调机逻辑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71500" y="1503815"/>
            <a:ext cx="2571750" cy="1289447"/>
          </a:xfrm>
          <a:prstGeom prst="rect">
            <a:avLst/>
          </a:prstGeom>
          <a:solidFill>
            <a:srgbClr val="0074D9">
              <a:alpha val="10000"/>
            </a:srgbClr>
          </a:solidFill>
          <a:ln w="9144">
            <a:solidFill>
              <a:srgbClr val="007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871538" y="1646690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压力控制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4375" y="1944942"/>
            <a:ext cx="2286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6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5.5 kgf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4375" y="22932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由初始 9kgf 优化至 5.5kgf，消除因压力过大导致的挤压渗锡，确保锡膏边缘清晰度。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286125" y="1503815"/>
            <a:ext cx="2571750" cy="1289447"/>
          </a:xfrm>
          <a:prstGeom prst="rect">
            <a:avLst/>
          </a:prstGeom>
          <a:solidFill>
            <a:srgbClr val="0074D9">
              <a:alpha val="10000"/>
            </a:srgbClr>
          </a:solidFill>
          <a:ln w="9144">
            <a:solidFill>
              <a:srgbClr val="007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3586163" y="1646690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脱模逻辑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29000" y="1944942"/>
            <a:ext cx="2286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6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1.2mm @ 0.5mm/s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29000" y="22932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增加脱模行程并设定极慢速脱模，防止锡膏与网板粘连导致的拉尖与桥接。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000750" y="1503815"/>
            <a:ext cx="2571750" cy="1289447"/>
          </a:xfrm>
          <a:prstGeom prst="rect">
            <a:avLst/>
          </a:prstGeom>
          <a:solidFill>
            <a:srgbClr val="0074D9">
              <a:alpha val="10000"/>
            </a:srgbClr>
          </a:solidFill>
          <a:ln w="9144">
            <a:solidFill>
              <a:srgbClr val="007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6300788" y="1646690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擦拭组合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143625" y="1944942"/>
            <a:ext cx="2286000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6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W+V+D Mode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143625" y="22932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开启“湿擦 + 真空 + 干擦”强力循环，彻底清除网孔底部残留，维持印刷一致性。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71500" y="2993287"/>
            <a:ext cx="8001000" cy="76650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571500" y="2993287"/>
            <a:ext cx="57150" cy="766502"/>
          </a:xfrm>
          <a:prstGeom prst="rect">
            <a:avLst/>
          </a:prstGeom>
          <a:solidFill>
            <a:srgbClr val="FFD6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785813" y="3121875"/>
            <a:ext cx="75723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6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钱刚调机心得：精密参数闭环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85813" y="3425484"/>
            <a:ext cx="75723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针对 0.3 Pitch 极小间距，调机核心在于“柔性印刷”。通过降低压力与极慢脱模的组合，在物理极限边缘寻找锡膏成型的最优解。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475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8650" y="699222"/>
            <a:ext cx="8001000" cy="69743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628650" y="1368084"/>
            <a:ext cx="8001000" cy="28575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628650" y="699222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改善效果：KPI 量化对比报告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628650" y="1653834"/>
            <a:ext cx="4331708" cy="3064669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74D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842963" y="1868146"/>
            <a:ext cx="389658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SPI 桥接率对比 (Before vs After)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2203903"/>
            <a:ext cx="3887986" cy="2286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382481" y="1653834"/>
            <a:ext cx="3247169" cy="928688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5561075" y="1832428"/>
            <a:ext cx="288998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首件一次合格率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5561075" y="2059242"/>
            <a:ext cx="216824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85.0% → 99.8%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7836471" y="2218190"/>
            <a:ext cx="36461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D6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17.4%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 rot="2700000">
            <a:off x="8051648" y="2011021"/>
            <a:ext cx="714375" cy="7143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0"/>
          <p:cNvSpPr/>
          <p:nvPr/>
        </p:nvSpPr>
        <p:spPr>
          <a:xfrm>
            <a:off x="5382481" y="2761115"/>
            <a:ext cx="3247169" cy="942975"/>
          </a:xfrm>
          <a:prstGeom prst="rect">
            <a:avLst/>
          </a:prstGeom>
          <a:solidFill>
            <a:srgbClr val="003366"/>
          </a:solidFill>
          <a:ln w="9144">
            <a:solidFill>
              <a:srgbClr val="007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5561075" y="2939709"/>
            <a:ext cx="288998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清锡频率 (PCS/WIPE)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561075" y="3166523"/>
            <a:ext cx="967364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 → 15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6635595" y="3325471"/>
            <a:ext cx="3288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4D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300%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 rot="2700000">
            <a:off x="8037361" y="3118303"/>
            <a:ext cx="714375" cy="7143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5"/>
          <p:cNvSpPr/>
          <p:nvPr/>
        </p:nvSpPr>
        <p:spPr>
          <a:xfrm>
            <a:off x="5382481" y="3868396"/>
            <a:ext cx="3247169" cy="928688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6"/>
          <p:cNvSpPr/>
          <p:nvPr/>
        </p:nvSpPr>
        <p:spPr>
          <a:xfrm>
            <a:off x="5561075" y="4046990"/>
            <a:ext cx="288998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>
                    <a:alpha val="8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炉后短路率 (PPM)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561075" y="4273804"/>
            <a:ext cx="1810048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5000 → &lt;100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7478278" y="4420251"/>
            <a:ext cx="2571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达标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 rot="2700000">
            <a:off x="8051648" y="4225584"/>
            <a:ext cx="714375" cy="7143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0"/>
          <p:cNvSpPr/>
          <p:nvPr/>
        </p:nvSpPr>
        <p:spPr>
          <a:xfrm>
            <a:off x="628650" y="5082834"/>
            <a:ext cx="8001000" cy="40719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628650" y="5082834"/>
            <a:ext cx="8001000" cy="407194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F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数据驱动决策：通过参数闭环优化，成功实现 0.3 Pitch BGA 制程能力的跨越式提升。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8650" y="699222"/>
            <a:ext cx="8001000" cy="704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"/>
          <p:cNvSpPr/>
          <p:nvPr/>
        </p:nvSpPr>
        <p:spPr>
          <a:xfrm>
            <a:off x="628650" y="1375228"/>
            <a:ext cx="8001000" cy="28575"/>
          </a:xfrm>
          <a:prstGeom prst="rect">
            <a:avLst/>
          </a:prstGeom>
          <a:solidFill>
            <a:srgbClr val="0074D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628650" y="699222"/>
            <a:ext cx="80010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总结与标准化输出报告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628650" y="1460953"/>
            <a:ext cx="2590809" cy="141337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7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535" y="1602042"/>
            <a:ext cx="321469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2950" y="1978875"/>
            <a:ext cx="235266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DDD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技术成果沉淀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742950" y="2248551"/>
            <a:ext cx="2352666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成功攻克 0.3 Pitch BGA </a:t>
            </a:r>
            <a:r>
              <a:rPr lang="en-US" sz="850" dirty="0" err="1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印刷短路行业难题，通过</a:t>
            </a: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r>
              <a:rPr lang="zh-CN" alt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优化</a:t>
            </a:r>
            <a:r>
              <a:rPr lang="en-US" sz="850" dirty="0" err="1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钢网</a:t>
            </a: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r>
              <a:rPr lang="zh-CN" alt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严格控制印刷</a:t>
            </a:r>
            <a:r>
              <a:rPr lang="en-US" sz="850" dirty="0" err="1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参数”双重优化，实现了极小间距下的稳定量产</a:t>
            </a: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3324216" y="1460953"/>
            <a:ext cx="2595553" cy="141337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7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850" y="1602042"/>
            <a:ext cx="214313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43288" y="1978875"/>
            <a:ext cx="2357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DDD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标准化指引输出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443288" y="2248551"/>
            <a:ext cx="2357438" cy="49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输出《细间距 BGA 钢网设计与印刷参数优化指引》，将个人实战经验转化为部门可复制的工艺资产。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6029325" y="1460953"/>
            <a:ext cx="2600325" cy="141337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007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384" y="1602042"/>
            <a:ext cx="285750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53169" y="1978875"/>
            <a:ext cx="2362209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DDDD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管理价值体现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153169" y="2248551"/>
            <a:ext cx="2362209" cy="49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推动工艺管理从“经验驱动”向“数据驱动”转型，通过参数闭环显著提升了产线稼动率与一次合格率。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628650" y="2945764"/>
            <a:ext cx="8001000" cy="5732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3"/>
          <p:cNvSpPr/>
          <p:nvPr/>
        </p:nvSpPr>
        <p:spPr>
          <a:xfrm>
            <a:off x="628650" y="2945764"/>
            <a:ext cx="8001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4"/>
          <p:cNvSpPr/>
          <p:nvPr/>
        </p:nvSpPr>
        <p:spPr>
          <a:xfrm>
            <a:off x="628650" y="3242230"/>
            <a:ext cx="3414713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0074D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“以技术突破瓶颈，以标准驱动品质。”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029450" y="3031489"/>
            <a:ext cx="160020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钱刚 (Bill Qian)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029450" y="3340457"/>
            <a:ext cx="1600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SMT ME 主管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685</Words>
  <Application>Microsoft Office PowerPoint</Application>
  <PresentationFormat>全屏显示(16:9)</PresentationFormat>
  <Paragraphs>90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Inter</vt:lpstr>
      <vt:lpstr>Inter Bold</vt:lpstr>
      <vt:lpstr>Space Grotesk Bold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gang3603326@outlook.com</cp:lastModifiedBy>
  <cp:revision>4</cp:revision>
  <dcterms:created xsi:type="dcterms:W3CDTF">2026-06-23T09:25:48Z</dcterms:created>
  <dcterms:modified xsi:type="dcterms:W3CDTF">2026-06-23T09:32:37Z</dcterms:modified>
</cp:coreProperties>
</file>