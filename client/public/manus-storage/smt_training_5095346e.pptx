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14513" y="1521619"/>
            <a:ext cx="5514975" cy="2085975"/>
          </a:xfrm>
          <a:prstGeom prst="rect">
            <a:avLst/>
          </a:prstGeom>
          <a:solidFill>
            <a:srgbClr val="1A1A1A">
              <a:alpha val="80000"/>
            </a:srgbClr>
          </a:solidFill>
          <a:ln w="18288">
            <a:solidFill>
              <a:srgbClr val="00FFC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171700" y="1964531"/>
            <a:ext cx="480060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spc="2" kern="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SMT新人调机培训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171700" y="2700338"/>
            <a:ext cx="4800600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从理论到实操：核心设备全流程精调与案例解析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3460254" y="3173611"/>
            <a:ext cx="230386" cy="205383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DEK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804940" y="3173611"/>
            <a:ext cx="537567" cy="205383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PEMTRON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456807" y="3173611"/>
            <a:ext cx="307181" cy="205383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FUJI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878288" y="3173611"/>
            <a:ext cx="230386" cy="205383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BTU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222974" y="3173611"/>
            <a:ext cx="460772" cy="205383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CCC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MIRTEC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053953" y="4861322"/>
            <a:ext cx="303609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3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SMT ENGINEERING TRAINING SERIES // VER 2.0 // 2024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6152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354382"/>
            <a:ext cx="9144000" cy="7144"/>
          </a:xfrm>
          <a:prstGeom prst="rect">
            <a:avLst/>
          </a:prstGeom>
          <a:solidFill>
            <a:srgbClr val="B3FFF0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713231"/>
            <a:ext cx="8572500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目录 / CONTENTS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71500" y="1640132"/>
            <a:ext cx="428625" cy="241102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00125" y="1640132"/>
            <a:ext cx="34861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印刷工艺 (DEK)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0125" y="1974103"/>
            <a:ext cx="34861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精密对位系统、闭环压力控制、脱模参数优化及BGA案例分析。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657725" y="1640132"/>
            <a:ext cx="428625" cy="241102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86350" y="1640132"/>
            <a:ext cx="34861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SPI检测 (奔创)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086350" y="1974103"/>
            <a:ext cx="34861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3D成像原理、AI融合算法、SPC数据闭环与公差精调。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71500" y="2419862"/>
            <a:ext cx="428625" cy="241102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00125" y="2419862"/>
            <a:ext cx="34861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贴片工艺 (Fuji)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00125" y="2753832"/>
            <a:ext cx="34861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模块化贴装头、视觉校正系统、抛料率控制与0402立碑整治。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657725" y="2419862"/>
            <a:ext cx="428625" cy="241102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86350" y="2419862"/>
            <a:ext cx="34861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回流焊接 (BTU)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086350" y="2753832"/>
            <a:ext cx="34861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多区温控技术、炉温曲线四阶段、氮气保护与BGA空焊优化。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1500" y="3199591"/>
            <a:ext cx="428625" cy="241102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00125" y="3199591"/>
            <a:ext cx="34861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AOI检测 (美陆/奔创)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00125" y="3533561"/>
            <a:ext cx="34861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2D与3D技术对比、程序精调策略、BGA虚焊拦截方案。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657725" y="3199591"/>
            <a:ext cx="428625" cy="241102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86350" y="3199591"/>
            <a:ext cx="348615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课后考核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086350" y="3533561"/>
            <a:ext cx="34861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理论知识测评、常见缺陷诊断简答及实操验证环节。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4709"/>
            <a:ext cx="364331" cy="312539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935831" y="522917"/>
            <a:ext cx="482738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印刷工艺 (DEK)：精密对位与压力控制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28625" y="1633407"/>
            <a:ext cx="3929063" cy="24824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核心技术要点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28625" y="2024528"/>
            <a:ext cx="39290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视觉对位系统 (Vision Alignment)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28625" y="2247770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采用高分辨率CCD识别MARK点，实现X/Y/θ三轴线性补偿，消除PCB制造公差。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8625" y="2454939"/>
            <a:ext cx="3929063" cy="289322"/>
          </a:xfrm>
          <a:prstGeom prst="rect">
            <a:avLst/>
          </a:prstGeom>
          <a:solidFill>
            <a:srgbClr val="00FFCC">
              <a:alpha val="5000"/>
            </a:srgbClr>
          </a:solidFill>
          <a:ln w="9144">
            <a:solidFill>
              <a:srgbClr val="00FFCC">
                <a:alpha val="30000"/>
              </a:srgbClr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28625" y="2454939"/>
            <a:ext cx="3929063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Alignment Accuracy: ±17.0μm @ 2 Cpk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28625" y="2908567"/>
            <a:ext cx="39290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闭环压力控制 (Closed-loop Pressure)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28625" y="3131809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力传感器实时监测刮刀接触力，动态调整确保锡膏呈理想圆柱状滚动。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28625" y="3338978"/>
            <a:ext cx="3929063" cy="289322"/>
          </a:xfrm>
          <a:prstGeom prst="rect">
            <a:avLst/>
          </a:prstGeom>
          <a:solidFill>
            <a:srgbClr val="00FFCC">
              <a:alpha val="5000"/>
            </a:srgbClr>
          </a:solidFill>
          <a:ln w="9144">
            <a:solidFill>
              <a:srgbClr val="00FFCC">
                <a:alpha val="30000"/>
              </a:srgbClr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428625" y="3338978"/>
            <a:ext cx="3929063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Optimal State: Consistent Solder Paste Rolling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28625" y="3792606"/>
            <a:ext cx="3929063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脱模参数优化 (Separation Strategy)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28625" y="4015848"/>
            <a:ext cx="39290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针对细间距QFP/BGA，采用两段式慢速分离，减少拉尖与塌陷。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28625" y="4223017"/>
            <a:ext cx="3929063" cy="289322"/>
          </a:xfrm>
          <a:prstGeom prst="rect">
            <a:avLst/>
          </a:prstGeom>
          <a:solidFill>
            <a:srgbClr val="00FFCC">
              <a:alpha val="5000"/>
            </a:srgbClr>
          </a:solidFill>
          <a:ln w="9144">
            <a:solidFill>
              <a:srgbClr val="00FFCC">
                <a:alpha val="30000"/>
              </a:srgbClr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428625" y="4223017"/>
            <a:ext cx="3929063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Speed: 5-10mm/s for Fine Pitch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786313" y="1461957"/>
            <a:ext cx="3929063" cy="32146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5" y="1708417"/>
            <a:ext cx="142875" cy="14287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214938" y="1676270"/>
            <a:ext cx="210383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案例分析：0.4mm BGA 桥接整治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000625" y="2026314"/>
            <a:ext cx="214313" cy="214313"/>
          </a:xfrm>
          <a:prstGeom prst="ellipse">
            <a:avLst/>
          </a:prstGeom>
          <a:solidFill>
            <a:srgbClr val="00FFCC"/>
          </a:solidFill>
          <a:ln/>
        </p:spPr>
      </p:sp>
      <p:sp>
        <p:nvSpPr>
          <p:cNvPr id="22" name="Text 18"/>
          <p:cNvSpPr/>
          <p:nvPr/>
        </p:nvSpPr>
        <p:spPr>
          <a:xfrm>
            <a:off x="5000625" y="2026314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5322094" y="2026314"/>
            <a:ext cx="3178969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现状分析：</a:t>
            </a: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SPI检测发现BGA焊盘间大量拉尖与桥接，回流后短路率</a:t>
            </a: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5%。</a:t>
            </a:r>
            <a:endParaRPr lang="en-US" sz="700" dirty="0"/>
          </a:p>
        </p:txBody>
      </p:sp>
      <p:sp>
        <p:nvSpPr>
          <p:cNvPr id="24" name="Shape 20"/>
          <p:cNvSpPr/>
          <p:nvPr/>
        </p:nvSpPr>
        <p:spPr>
          <a:xfrm>
            <a:off x="5000625" y="2458510"/>
            <a:ext cx="214313" cy="214313"/>
          </a:xfrm>
          <a:prstGeom prst="ellipse">
            <a:avLst/>
          </a:prstGeom>
          <a:solidFill>
            <a:srgbClr val="00FFCC"/>
          </a:solidFill>
          <a:ln/>
        </p:spPr>
      </p:sp>
      <p:sp>
        <p:nvSpPr>
          <p:cNvPr id="25" name="Text 21"/>
          <p:cNvSpPr/>
          <p:nvPr/>
        </p:nvSpPr>
        <p:spPr>
          <a:xfrm>
            <a:off x="5000625" y="2458510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322094" y="2458510"/>
            <a:ext cx="263425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调机优化：</a:t>
            </a: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降低刮刀压力（5kgf → 4kgf），增加湿擦频率。</a:t>
            </a:r>
            <a:endParaRPr lang="en-US" sz="700" dirty="0"/>
          </a:p>
        </p:txBody>
      </p:sp>
      <p:sp>
        <p:nvSpPr>
          <p:cNvPr id="27" name="Shape 23"/>
          <p:cNvSpPr/>
          <p:nvPr/>
        </p:nvSpPr>
        <p:spPr>
          <a:xfrm>
            <a:off x="5000625" y="2815698"/>
            <a:ext cx="214313" cy="214313"/>
          </a:xfrm>
          <a:prstGeom prst="ellipse">
            <a:avLst/>
          </a:prstGeom>
          <a:solidFill>
            <a:srgbClr val="00FFCC"/>
          </a:solidFill>
          <a:ln/>
        </p:spPr>
      </p:sp>
      <p:sp>
        <p:nvSpPr>
          <p:cNvPr id="28" name="Text 24"/>
          <p:cNvSpPr/>
          <p:nvPr/>
        </p:nvSpPr>
        <p:spPr>
          <a:xfrm>
            <a:off x="5000625" y="2815698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322094" y="2815698"/>
            <a:ext cx="274677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脱模调整：</a:t>
            </a: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第一段0.5mm以2mm/s慢速分离，确保平稳脱模。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5000625" y="3172885"/>
            <a:ext cx="214313" cy="214313"/>
          </a:xfrm>
          <a:prstGeom prst="ellipse">
            <a:avLst/>
          </a:prstGeom>
          <a:solidFill>
            <a:srgbClr val="00FFCC"/>
          </a:solidFill>
          <a:ln/>
        </p:spPr>
      </p:sp>
      <p:sp>
        <p:nvSpPr>
          <p:cNvPr id="31" name="Text 27"/>
          <p:cNvSpPr/>
          <p:nvPr/>
        </p:nvSpPr>
        <p:spPr>
          <a:xfrm>
            <a:off x="5000625" y="3172885"/>
            <a:ext cx="21431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322094" y="3172885"/>
            <a:ext cx="263961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结果验证：</a:t>
            </a: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短路率降至0.2%，SPI高度/体积分布趋于正态。</a:t>
            </a:r>
            <a:endParaRPr lang="en-US" sz="700" dirty="0"/>
          </a:p>
        </p:txBody>
      </p:sp>
      <p:sp>
        <p:nvSpPr>
          <p:cNvPr id="33" name="Shape 29"/>
          <p:cNvSpPr/>
          <p:nvPr/>
        </p:nvSpPr>
        <p:spPr>
          <a:xfrm>
            <a:off x="7313414" y="4177308"/>
            <a:ext cx="1401961" cy="680442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34" name="Text 30"/>
          <p:cNvSpPr/>
          <p:nvPr/>
        </p:nvSpPr>
        <p:spPr>
          <a:xfrm>
            <a:off x="7492008" y="4284464"/>
            <a:ext cx="1044773" cy="24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DEK 对位精度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7492008" y="4532709"/>
            <a:ext cx="104477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±17.0 μm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8675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79615"/>
            <a:ext cx="9144000" cy="7144"/>
          </a:xfrm>
          <a:prstGeom prst="rect">
            <a:avLst/>
          </a:prstGeom>
          <a:solidFill>
            <a:srgbClr val="CCFFF5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99197"/>
            <a:ext cx="481845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实战案例：0.4mm BGA 桥接整治深度解析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95738"/>
            <a:ext cx="176808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5433" y="1377879"/>
            <a:ext cx="2389584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故障排除路径 (Troubleshooting)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28625" y="1722565"/>
            <a:ext cx="4000500" cy="51792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28625" y="1722565"/>
            <a:ext cx="4000500" cy="5179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1: SPI 数据回溯</a:t>
            </a: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确认桥接位置的锡膏体积/面积分布，识别是否有渗锡趋势。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428625" y="2333355"/>
            <a:ext cx="4000500" cy="51792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8625" y="2333355"/>
            <a:ext cx="4000500" cy="5179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2: 印刷机状态检查</a:t>
            </a: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核查刮刀压力、脱模速度及网板底部是否有残余锡膏。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428625" y="2944146"/>
            <a:ext cx="4000500" cy="51792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28625" y="2944146"/>
            <a:ext cx="4000500" cy="5179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3: 贴片压力验证</a:t>
            </a: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检查 Fuji 贴片机 Z 轴行程，确认是否因压力过大挤压锡膏。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428625" y="3554936"/>
            <a:ext cx="4000500" cy="517922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28625" y="3554936"/>
            <a:ext cx="4000500" cy="51792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Step 4: 预防性措施实施</a:t>
            </a: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调整网板擦拭频率，引入 Nano 涂层网板，优化缩孔设计。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2421731" y="2247630"/>
            <a:ext cx="9108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↓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2421731" y="2858421"/>
            <a:ext cx="9108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↓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2421731" y="3469211"/>
            <a:ext cx="9108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↓</a:t>
            </a:r>
            <a:endParaRPr lang="en-US" sz="7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395738"/>
            <a:ext cx="157163" cy="15716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72038" y="1377879"/>
            <a:ext cx="1296591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核心调机参数对比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718447" y="1726136"/>
            <a:ext cx="927488" cy="323255"/>
          </a:xfrm>
          <a:prstGeom prst="rect">
            <a:avLst/>
          </a:prstGeom>
          <a:solidFill>
            <a:srgbClr val="00FFCC">
              <a:alpha val="10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718447" y="1726136"/>
            <a:ext cx="927488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关键参数</a:t>
            </a:r>
            <a:endParaRPr lang="en-US" sz="700" dirty="0"/>
          </a:p>
        </p:txBody>
      </p:sp>
      <p:sp>
        <p:nvSpPr>
          <p:cNvPr id="23" name="Shape 18"/>
          <p:cNvSpPr/>
          <p:nvPr/>
        </p:nvSpPr>
        <p:spPr>
          <a:xfrm>
            <a:off x="5645934" y="1726136"/>
            <a:ext cx="1182235" cy="323255"/>
          </a:xfrm>
          <a:prstGeom prst="rect">
            <a:avLst/>
          </a:prstGeom>
          <a:solidFill>
            <a:srgbClr val="00FFCC">
              <a:alpha val="10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645934" y="1726136"/>
            <a:ext cx="1182235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标准设定</a:t>
            </a:r>
            <a:endParaRPr lang="en-US" sz="700" dirty="0"/>
          </a:p>
        </p:txBody>
      </p:sp>
      <p:sp>
        <p:nvSpPr>
          <p:cNvPr id="25" name="Shape 20"/>
          <p:cNvSpPr/>
          <p:nvPr/>
        </p:nvSpPr>
        <p:spPr>
          <a:xfrm>
            <a:off x="6828169" y="1726136"/>
            <a:ext cx="1883634" cy="323255"/>
          </a:xfrm>
          <a:prstGeom prst="rect">
            <a:avLst/>
          </a:prstGeom>
          <a:solidFill>
            <a:srgbClr val="00FFCC">
              <a:alpha val="10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828169" y="1726136"/>
            <a:ext cx="1883634" cy="32325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0.4mm BGA 优化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4718447" y="2042247"/>
            <a:ext cx="927488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刮刀压力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5645934" y="2042247"/>
            <a:ext cx="1182235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6 - 8 kgf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6917466" y="2123508"/>
            <a:ext cx="632222" cy="160734"/>
          </a:xfrm>
          <a:prstGeom prst="rect">
            <a:avLst/>
          </a:prstGeom>
          <a:solidFill>
            <a:srgbClr val="00FFCC">
              <a:alpha val="20000"/>
            </a:srgbClr>
          </a:solidFill>
          <a:ln/>
        </p:spPr>
      </p:sp>
      <p:sp>
        <p:nvSpPr>
          <p:cNvPr id="30" name="Text 25"/>
          <p:cNvSpPr/>
          <p:nvPr/>
        </p:nvSpPr>
        <p:spPr>
          <a:xfrm>
            <a:off x="6917466" y="2123508"/>
            <a:ext cx="632222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4 - 5 kgf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4718447" y="2365502"/>
            <a:ext cx="927488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脱模速度</a:t>
            </a:r>
            <a:endParaRPr lang="en-US" sz="750" dirty="0"/>
          </a:p>
        </p:txBody>
      </p:sp>
      <p:sp>
        <p:nvSpPr>
          <p:cNvPr id="32" name="Text 27"/>
          <p:cNvSpPr/>
          <p:nvPr/>
        </p:nvSpPr>
        <p:spPr>
          <a:xfrm>
            <a:off x="5645934" y="2365502"/>
            <a:ext cx="1182235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5 - 10 mm/s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6917466" y="2446762"/>
            <a:ext cx="935831" cy="160734"/>
          </a:xfrm>
          <a:prstGeom prst="rect">
            <a:avLst/>
          </a:prstGeom>
          <a:solidFill>
            <a:srgbClr val="00FFCC">
              <a:alpha val="20000"/>
            </a:srgbClr>
          </a:solidFill>
          <a:ln/>
        </p:spPr>
      </p:sp>
      <p:sp>
        <p:nvSpPr>
          <p:cNvPr id="34" name="Text 29"/>
          <p:cNvSpPr/>
          <p:nvPr/>
        </p:nvSpPr>
        <p:spPr>
          <a:xfrm>
            <a:off x="6917466" y="2446762"/>
            <a:ext cx="935831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0.5 - 1.0 mm/s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4718447" y="2688757"/>
            <a:ext cx="927488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擦拭模式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5645934" y="2688757"/>
            <a:ext cx="1182235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Dry Wipe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6917466" y="2770017"/>
            <a:ext cx="996553" cy="160734"/>
          </a:xfrm>
          <a:prstGeom prst="rect">
            <a:avLst/>
          </a:prstGeom>
          <a:solidFill>
            <a:srgbClr val="00FFCC">
              <a:alpha val="20000"/>
            </a:srgbClr>
          </a:solidFill>
          <a:ln/>
        </p:spPr>
      </p:sp>
      <p:sp>
        <p:nvSpPr>
          <p:cNvPr id="38" name="Text 33"/>
          <p:cNvSpPr/>
          <p:nvPr/>
        </p:nvSpPr>
        <p:spPr>
          <a:xfrm>
            <a:off x="6917466" y="2770017"/>
            <a:ext cx="996553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Vac + Wet + Dry</a:t>
            </a:r>
            <a:endParaRPr lang="en-US" sz="750" dirty="0"/>
          </a:p>
        </p:txBody>
      </p:sp>
      <p:sp>
        <p:nvSpPr>
          <p:cNvPr id="39" name="Text 34"/>
          <p:cNvSpPr/>
          <p:nvPr/>
        </p:nvSpPr>
        <p:spPr>
          <a:xfrm>
            <a:off x="4718447" y="3012011"/>
            <a:ext cx="927488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贴装压力</a:t>
            </a:r>
            <a:endParaRPr lang="en-US" sz="750" dirty="0"/>
          </a:p>
        </p:txBody>
      </p:sp>
      <p:sp>
        <p:nvSpPr>
          <p:cNvPr id="40" name="Text 35"/>
          <p:cNvSpPr/>
          <p:nvPr/>
        </p:nvSpPr>
        <p:spPr>
          <a:xfrm>
            <a:off x="5645934" y="3012011"/>
            <a:ext cx="1182235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1.5 - 2.0 N</a:t>
            </a:r>
            <a:endParaRPr lang="en-US" sz="750" dirty="0"/>
          </a:p>
        </p:txBody>
      </p:sp>
      <p:sp>
        <p:nvSpPr>
          <p:cNvPr id="41" name="Shape 36"/>
          <p:cNvSpPr/>
          <p:nvPr/>
        </p:nvSpPr>
        <p:spPr>
          <a:xfrm>
            <a:off x="6917466" y="3093272"/>
            <a:ext cx="753666" cy="160734"/>
          </a:xfrm>
          <a:prstGeom prst="rect">
            <a:avLst/>
          </a:prstGeom>
          <a:solidFill>
            <a:srgbClr val="00FFCC">
              <a:alpha val="20000"/>
            </a:srgbClr>
          </a:solidFill>
          <a:ln/>
        </p:spPr>
      </p:sp>
      <p:sp>
        <p:nvSpPr>
          <p:cNvPr id="42" name="Text 37"/>
          <p:cNvSpPr/>
          <p:nvPr/>
        </p:nvSpPr>
        <p:spPr>
          <a:xfrm>
            <a:off x="6917466" y="3093272"/>
            <a:ext cx="753666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1.0 - 1.2 N</a:t>
            </a:r>
            <a:endParaRPr lang="en-US" sz="750" dirty="0"/>
          </a:p>
        </p:txBody>
      </p:sp>
      <p:sp>
        <p:nvSpPr>
          <p:cNvPr id="43" name="Text 38"/>
          <p:cNvSpPr/>
          <p:nvPr/>
        </p:nvSpPr>
        <p:spPr>
          <a:xfrm>
            <a:off x="4718447" y="3335266"/>
            <a:ext cx="927488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网板设计</a:t>
            </a:r>
            <a:endParaRPr lang="en-US" sz="750" dirty="0"/>
          </a:p>
        </p:txBody>
      </p:sp>
      <p:sp>
        <p:nvSpPr>
          <p:cNvPr id="44" name="Text 39"/>
          <p:cNvSpPr/>
          <p:nvPr/>
        </p:nvSpPr>
        <p:spPr>
          <a:xfrm>
            <a:off x="5645934" y="3335266"/>
            <a:ext cx="1182235" cy="323255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Opening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6917466" y="3416526"/>
            <a:ext cx="996553" cy="160734"/>
          </a:xfrm>
          <a:prstGeom prst="rect">
            <a:avLst/>
          </a:prstGeom>
          <a:solidFill>
            <a:srgbClr val="00FFCC">
              <a:alpha val="20000"/>
            </a:srgbClr>
          </a:solidFill>
          <a:ln/>
        </p:spPr>
      </p:sp>
      <p:sp>
        <p:nvSpPr>
          <p:cNvPr id="46" name="Text 41"/>
          <p:cNvSpPr/>
          <p:nvPr/>
        </p:nvSpPr>
        <p:spPr>
          <a:xfrm>
            <a:off x="6917466" y="3416526"/>
            <a:ext cx="996553" cy="160734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5-10% Reduction</a:t>
            </a:r>
            <a:endParaRPr lang="en-US" sz="750" dirty="0"/>
          </a:p>
        </p:txBody>
      </p:sp>
      <p:sp>
        <p:nvSpPr>
          <p:cNvPr id="47" name="Shape 42"/>
          <p:cNvSpPr/>
          <p:nvPr/>
        </p:nvSpPr>
        <p:spPr>
          <a:xfrm>
            <a:off x="4714875" y="3876405"/>
            <a:ext cx="4000500" cy="778669"/>
          </a:xfrm>
          <a:prstGeom prst="rect">
            <a:avLst/>
          </a:prstGeom>
          <a:solidFill>
            <a:srgbClr val="00FFCC"/>
          </a:solidFill>
          <a:ln/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4151440"/>
            <a:ext cx="171450" cy="22860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5172075" y="4019280"/>
            <a:ext cx="3400425" cy="492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专家结论：对于 0.4mm Fine Pitch 组装，“轻压力、慢脱模、强擦拭”是解决桥接的黄金法则。引入 SPI-M2M 闭环可将拦截率提升至 99% 以上。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4709"/>
            <a:ext cx="364331" cy="312539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935831" y="522917"/>
            <a:ext cx="50845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SPI检测 (奔创)：3D成像原理与闭环控制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28625" y="1461957"/>
            <a:ext cx="2619356" cy="33718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461957"/>
            <a:ext cx="2619356" cy="14288"/>
          </a:xfrm>
          <a:prstGeom prst="rect">
            <a:avLst/>
          </a:prstGeom>
          <a:solidFill>
            <a:srgbClr val="00FFC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40551"/>
            <a:ext cx="157163" cy="1571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" y="1604832"/>
            <a:ext cx="83046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3D成像原理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71500" y="1976307"/>
            <a:ext cx="233360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莫尔条纹相位偏折技术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571500" y="2182750"/>
            <a:ext cx="230028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通过多频条纹投影与相位解缠，精确重建锡膏三维形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71500" y="2342759"/>
            <a:ext cx="11001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貌，获取真实高度信息。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71500" y="2592065"/>
            <a:ext cx="233360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多光源融合系统</a:t>
            </a:r>
            <a:endParaRPr lang="en-US" sz="700" dirty="0"/>
          </a:p>
        </p:txBody>
      </p:sp>
      <p:sp>
        <p:nvSpPr>
          <p:cNvPr id="13" name="Text 9"/>
          <p:cNvSpPr/>
          <p:nvPr/>
        </p:nvSpPr>
        <p:spPr>
          <a:xfrm>
            <a:off x="571500" y="2798508"/>
            <a:ext cx="179486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RGB三色LED照明，消除阴影效应，确保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571500" y="2953159"/>
            <a:ext cx="707231" cy="141089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571500" y="2953159"/>
            <a:ext cx="707231" cy="14108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01005/008004</a:t>
            </a:r>
            <a:endParaRPr lang="en-US" sz="600" dirty="0"/>
          </a:p>
        </p:txBody>
      </p:sp>
      <p:sp>
        <p:nvSpPr>
          <p:cNvPr id="16" name="Text 12"/>
          <p:cNvSpPr/>
          <p:nvPr/>
        </p:nvSpPr>
        <p:spPr>
          <a:xfrm>
            <a:off x="1278731" y="2958517"/>
            <a:ext cx="7286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焊盘检测精度。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571500" y="3207823"/>
            <a:ext cx="233360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高分辨率成像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571500" y="3408908"/>
            <a:ext cx="551855" cy="141089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571500" y="3408908"/>
            <a:ext cx="551855" cy="14108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12M Pixel</a:t>
            </a:r>
            <a:endParaRPr lang="en-US" sz="600" dirty="0"/>
          </a:p>
        </p:txBody>
      </p:sp>
      <p:sp>
        <p:nvSpPr>
          <p:cNvPr id="20" name="Text 16"/>
          <p:cNvSpPr/>
          <p:nvPr/>
        </p:nvSpPr>
        <p:spPr>
          <a:xfrm>
            <a:off x="1123355" y="3414266"/>
            <a:ext cx="172878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工业相机，捕捉微米级特征，保证检测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71500" y="3574275"/>
            <a:ext cx="4000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稳定性。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3262294" y="1461957"/>
            <a:ext cx="2619384" cy="33718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3262294" y="1461957"/>
            <a:ext cx="2619384" cy="14288"/>
          </a:xfrm>
          <a:prstGeom prst="rect">
            <a:avLst/>
          </a:prstGeom>
          <a:solidFill>
            <a:srgbClr val="00FFC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169" y="1640551"/>
            <a:ext cx="157163" cy="15716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633769" y="1604832"/>
            <a:ext cx="90368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AI算法与SPC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3405169" y="1976307"/>
            <a:ext cx="233363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AI融合传统算法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3405169" y="2182750"/>
            <a:ext cx="230028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深度学习识别复杂缺陷模式，实现低误报与零漏检，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3405169" y="2342759"/>
            <a:ext cx="8001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提升检测鲁棒性。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3405169" y="2592065"/>
            <a:ext cx="233363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SPC数据分析</a:t>
            </a:r>
            <a:endParaRPr lang="en-US" sz="700" dirty="0"/>
          </a:p>
        </p:txBody>
      </p:sp>
      <p:sp>
        <p:nvSpPr>
          <p:cNvPr id="30" name="Text 25"/>
          <p:cNvSpPr/>
          <p:nvPr/>
        </p:nvSpPr>
        <p:spPr>
          <a:xfrm>
            <a:off x="3405169" y="2798508"/>
            <a:ext cx="4286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实时监控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3833794" y="2793150"/>
            <a:ext cx="1066205" cy="141089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3833794" y="2793150"/>
            <a:ext cx="1066205" cy="14108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Cpk / 平均值 / 标准差</a:t>
            </a:r>
            <a:endParaRPr lang="en-US" sz="600" dirty="0"/>
          </a:p>
        </p:txBody>
      </p:sp>
      <p:sp>
        <p:nvSpPr>
          <p:cNvPr id="33" name="Text 28"/>
          <p:cNvSpPr/>
          <p:nvPr/>
        </p:nvSpPr>
        <p:spPr>
          <a:xfrm>
            <a:off x="4899999" y="2798508"/>
            <a:ext cx="8001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，预警制程偏移。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3519469" y="3197833"/>
            <a:ext cx="2105034" cy="125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M2M 闭环控制逻辑</a:t>
            </a:r>
            <a:endParaRPr lang="en-US" sz="600" dirty="0"/>
          </a:p>
        </p:txBody>
      </p:sp>
      <p:sp>
        <p:nvSpPr>
          <p:cNvPr id="35" name="Text 30"/>
          <p:cNvSpPr/>
          <p:nvPr/>
        </p:nvSpPr>
        <p:spPr>
          <a:xfrm>
            <a:off x="3519469" y="3394286"/>
            <a:ext cx="2105034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SPI检测数据 → 自动分析 → 印刷机参数补偿 (压力/擦拭)</a:t>
            </a:r>
            <a:endParaRPr lang="en-US" sz="600" dirty="0"/>
          </a:p>
        </p:txBody>
      </p:sp>
      <p:sp>
        <p:nvSpPr>
          <p:cNvPr id="36" name="Shape 31"/>
          <p:cNvSpPr/>
          <p:nvPr/>
        </p:nvSpPr>
        <p:spPr>
          <a:xfrm>
            <a:off x="6095991" y="1461957"/>
            <a:ext cx="2619356" cy="337185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37" name="Shape 32"/>
          <p:cNvSpPr/>
          <p:nvPr/>
        </p:nvSpPr>
        <p:spPr>
          <a:xfrm>
            <a:off x="6095991" y="1461957"/>
            <a:ext cx="2619356" cy="14288"/>
          </a:xfrm>
          <a:prstGeom prst="rect">
            <a:avLst/>
          </a:prstGeom>
          <a:solidFill>
            <a:srgbClr val="00FFCC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66" y="1640551"/>
            <a:ext cx="157163" cy="157163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467466" y="1604832"/>
            <a:ext cx="14073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案例：BGA公差优化</a:t>
            </a:r>
            <a:endParaRPr lang="en-US" sz="1150" dirty="0"/>
          </a:p>
        </p:txBody>
      </p:sp>
      <p:sp>
        <p:nvSpPr>
          <p:cNvPr id="40" name="Text 34"/>
          <p:cNvSpPr/>
          <p:nvPr/>
        </p:nvSpPr>
        <p:spPr>
          <a:xfrm>
            <a:off x="6238866" y="1976307"/>
            <a:ext cx="233360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背景：</a:t>
            </a:r>
            <a:endParaRPr lang="en-US" sz="700" dirty="0"/>
          </a:p>
        </p:txBody>
      </p:sp>
      <p:sp>
        <p:nvSpPr>
          <p:cNvPr id="41" name="Text 35"/>
          <p:cNvSpPr/>
          <p:nvPr/>
        </p:nvSpPr>
        <p:spPr>
          <a:xfrm>
            <a:off x="6238866" y="2182750"/>
            <a:ext cx="230921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某通信产品BGA频繁报出少锡与桥接，回流后空焊率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6238866" y="2342759"/>
            <a:ext cx="2000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高。</a:t>
            </a:r>
            <a:endParaRPr lang="en-US" sz="750" dirty="0"/>
          </a:p>
        </p:txBody>
      </p:sp>
      <p:sp>
        <p:nvSpPr>
          <p:cNvPr id="43" name="Text 37"/>
          <p:cNvSpPr/>
          <p:nvPr/>
        </p:nvSpPr>
        <p:spPr>
          <a:xfrm>
            <a:off x="6238866" y="2592065"/>
            <a:ext cx="233360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优化方案：</a:t>
            </a:r>
            <a:endParaRPr lang="en-US" sz="700" dirty="0"/>
          </a:p>
        </p:txBody>
      </p:sp>
      <p:sp>
        <p:nvSpPr>
          <p:cNvPr id="44" name="Text 38"/>
          <p:cNvSpPr/>
          <p:nvPr/>
        </p:nvSpPr>
        <p:spPr>
          <a:xfrm>
            <a:off x="6238866" y="2798508"/>
            <a:ext cx="79831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体积公差收紧：</a:t>
            </a:r>
            <a:endParaRPr lang="en-US" sz="750" dirty="0"/>
          </a:p>
        </p:txBody>
      </p:sp>
      <p:sp>
        <p:nvSpPr>
          <p:cNvPr id="45" name="Shape 39"/>
          <p:cNvSpPr/>
          <p:nvPr/>
        </p:nvSpPr>
        <p:spPr>
          <a:xfrm>
            <a:off x="7037180" y="2793150"/>
            <a:ext cx="1069442" cy="141089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46" name="Text 40"/>
          <p:cNvSpPr/>
          <p:nvPr/>
        </p:nvSpPr>
        <p:spPr>
          <a:xfrm>
            <a:off x="7037180" y="2793150"/>
            <a:ext cx="1069442" cy="14108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75%-150% → 80%-130%</a:t>
            </a:r>
            <a:endParaRPr lang="en-US" sz="600" dirty="0"/>
          </a:p>
        </p:txBody>
      </p:sp>
      <p:sp>
        <p:nvSpPr>
          <p:cNvPr id="47" name="Text 41"/>
          <p:cNvSpPr/>
          <p:nvPr/>
        </p:nvSpPr>
        <p:spPr>
          <a:xfrm>
            <a:off x="6238866" y="2958517"/>
            <a:ext cx="91797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启用灵敏桥接算法</a:t>
            </a:r>
            <a:endParaRPr lang="en-US" sz="750" dirty="0"/>
          </a:p>
        </p:txBody>
      </p:sp>
      <p:sp>
        <p:nvSpPr>
          <p:cNvPr id="48" name="Text 42"/>
          <p:cNvSpPr/>
          <p:nvPr/>
        </p:nvSpPr>
        <p:spPr>
          <a:xfrm>
            <a:off x="6238866" y="3118526"/>
            <a:ext cx="15180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联动印刷机增加真空擦拭频率。</a:t>
            </a:r>
            <a:endParaRPr lang="en-US" sz="750" dirty="0"/>
          </a:p>
        </p:txBody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66" y="3473202"/>
            <a:ext cx="92869" cy="92869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6331734" y="3464272"/>
            <a:ext cx="2218134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FF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结果：BGA焊接良率提升 90%，返修成本大幅下降。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4709"/>
            <a:ext cx="364331" cy="312539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935831" y="522917"/>
            <a:ext cx="420945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贴片工艺 (Fuji)：高速高精度贴装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28625" y="1633407"/>
            <a:ext cx="4800600" cy="24824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核心技术架构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28625" y="2024528"/>
            <a:ext cx="4800600" cy="115299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FCC">
                <a:alpha val="1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96871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1525" y="2167403"/>
            <a:ext cx="1852017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模块化贴装头 (Modular Heads)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71500" y="2426364"/>
            <a:ext cx="45148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支持H01(大型异形)至H24(超高速)贴装头灵活切换，覆盖008004至大型IC。</a:t>
            </a:r>
            <a:endParaRPr lang="en-US" sz="750" dirty="0"/>
          </a:p>
        </p:txBody>
      </p:sp>
      <p:sp>
        <p:nvSpPr>
          <p:cNvPr id="10" name="Shape 6"/>
          <p:cNvSpPr/>
          <p:nvPr/>
        </p:nvSpPr>
        <p:spPr>
          <a:xfrm>
            <a:off x="571500" y="2693529"/>
            <a:ext cx="2203847" cy="469702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42938" y="2764966"/>
            <a:ext cx="2060972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±25μm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377851" y="2981065"/>
            <a:ext cx="59114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Chip Accuracy</a:t>
            </a:r>
            <a:endParaRPr lang="en-US" sz="600" dirty="0"/>
          </a:p>
        </p:txBody>
      </p:sp>
      <p:sp>
        <p:nvSpPr>
          <p:cNvPr id="13" name="Shape 9"/>
          <p:cNvSpPr/>
          <p:nvPr/>
        </p:nvSpPr>
        <p:spPr>
          <a:xfrm>
            <a:off x="2882503" y="2693529"/>
            <a:ext cx="2203847" cy="469702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2953941" y="2764966"/>
            <a:ext cx="2060972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±30μm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695998" y="2981065"/>
            <a:ext cx="576858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QFP Accuracy</a:t>
            </a:r>
            <a:endParaRPr lang="en-US" sz="600" dirty="0"/>
          </a:p>
        </p:txBody>
      </p:sp>
      <p:sp>
        <p:nvSpPr>
          <p:cNvPr id="16" name="Shape 12"/>
          <p:cNvSpPr/>
          <p:nvPr/>
        </p:nvSpPr>
        <p:spPr>
          <a:xfrm>
            <a:off x="428625" y="3306105"/>
            <a:ext cx="4800600" cy="115299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FCC">
                <a:alpha val="10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78448"/>
            <a:ext cx="144661" cy="128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87598" y="3448980"/>
            <a:ext cx="1798439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智能视觉校正 (Vision System)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71500" y="3707941"/>
            <a:ext cx="45148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向上/向下相机实时检测元器件中心、旋转角、引脚共面性及极性。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571500" y="3975106"/>
            <a:ext cx="2203847" cy="469702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21" name="Text 16"/>
          <p:cNvSpPr/>
          <p:nvPr/>
        </p:nvSpPr>
        <p:spPr>
          <a:xfrm>
            <a:off x="642938" y="4046544"/>
            <a:ext cx="2060972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&lt;0.01%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1302841" y="4262642"/>
            <a:ext cx="74116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Reject Rate</a:t>
            </a:r>
            <a:endParaRPr lang="en-US" sz="600" dirty="0"/>
          </a:p>
        </p:txBody>
      </p:sp>
      <p:sp>
        <p:nvSpPr>
          <p:cNvPr id="23" name="Shape 18"/>
          <p:cNvSpPr/>
          <p:nvPr/>
        </p:nvSpPr>
        <p:spPr>
          <a:xfrm>
            <a:off x="2882503" y="3975106"/>
            <a:ext cx="2203847" cy="469702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24" name="Text 19"/>
          <p:cNvSpPr/>
          <p:nvPr/>
        </p:nvSpPr>
        <p:spPr>
          <a:xfrm>
            <a:off x="2953941" y="4046544"/>
            <a:ext cx="2060972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100%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688854" y="4262642"/>
            <a:ext cx="591145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Polarity Check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5514975" y="1461957"/>
            <a:ext cx="3200400" cy="3125725"/>
          </a:xfrm>
          <a:prstGeom prst="rect">
            <a:avLst/>
          </a:prstGeom>
          <a:solidFill>
            <a:srgbClr val="00FFCC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693569" y="1640551"/>
            <a:ext cx="284321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案例：0402立碑缺陷整治</a:t>
            </a:r>
            <a:endParaRPr lang="en-US" sz="10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3569" y="1954876"/>
            <a:ext cx="114300" cy="14287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879306" y="1954876"/>
            <a:ext cx="265747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压力微调：</a:t>
            </a: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将贴装压力从1.5N降至1.2N，减少元器件在贴装</a:t>
            </a: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瞬间的滑动。</a:t>
            </a:r>
            <a:endParaRPr lang="en-US" sz="7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3569" y="2351354"/>
            <a:ext cx="114300" cy="14287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879306" y="2351354"/>
            <a:ext cx="265747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视觉优化：</a:t>
            </a: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调整识别阈值，提高0402微小元件中心点识别</a:t>
            </a: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精度。</a:t>
            </a:r>
            <a:endParaRPr lang="en-US" sz="7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3569" y="2747832"/>
            <a:ext cx="114300" cy="142875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879306" y="2747832"/>
            <a:ext cx="2657475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吸嘴维护：</a:t>
            </a: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更换磨损的专用吸嘴，增加清洁频率，确保真空</a:t>
            </a: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吸力稳定。</a:t>
            </a:r>
            <a:endParaRPr lang="en-US" sz="7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3569" y="3144310"/>
            <a:ext cx="114300" cy="142875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879306" y="3144310"/>
            <a:ext cx="2555677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联动效果：</a:t>
            </a: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立碑率从0.3%降至0.02%，抛料率显著改善。</a:t>
            </a:r>
            <a:endParaRPr lang="en-US" sz="700" dirty="0"/>
          </a:p>
        </p:txBody>
      </p:sp>
      <p:sp>
        <p:nvSpPr>
          <p:cNvPr id="36" name="Shape 27"/>
          <p:cNvSpPr/>
          <p:nvPr/>
        </p:nvSpPr>
        <p:spPr>
          <a:xfrm>
            <a:off x="5347097" y="4536281"/>
            <a:ext cx="3368278" cy="321469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00FFCC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347097" y="4536281"/>
            <a:ext cx="3368278" cy="321469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FUJI AIMEX/XPF SERIES // HIGH-SPEED PRECISION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74709"/>
            <a:ext cx="364331" cy="312539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935831" y="522917"/>
            <a:ext cx="513099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回流焊接 (BTU)：热管理与炉温曲线优化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28625" y="1390520"/>
            <a:ext cx="4800600" cy="355937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70899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0088" y="1556612"/>
            <a:ext cx="243423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典型无铅回流焊温度曲线 (Reflow Profile)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28074"/>
            <a:ext cx="4500563" cy="214312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57250" y="4135506"/>
            <a:ext cx="189309" cy="141089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10" name="Text 5"/>
          <p:cNvSpPr/>
          <p:nvPr/>
        </p:nvSpPr>
        <p:spPr>
          <a:xfrm>
            <a:off x="857250" y="4135506"/>
            <a:ext cx="189309" cy="14108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P1</a:t>
            </a:r>
            <a:endParaRPr lang="en-US" sz="600" dirty="0"/>
          </a:p>
        </p:txBody>
      </p:sp>
      <p:sp>
        <p:nvSpPr>
          <p:cNvPr id="11" name="Text 6"/>
          <p:cNvSpPr/>
          <p:nvPr/>
        </p:nvSpPr>
        <p:spPr>
          <a:xfrm>
            <a:off x="1117997" y="4114074"/>
            <a:ext cx="322183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预热区 (Preheat):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升温速率 1-3°C/s，挥发溶剂，防止热冲击。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857250" y="4406968"/>
            <a:ext cx="189309" cy="141089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13" name="Text 8"/>
          <p:cNvSpPr/>
          <p:nvPr/>
        </p:nvSpPr>
        <p:spPr>
          <a:xfrm>
            <a:off x="857250" y="4406968"/>
            <a:ext cx="189309" cy="14108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P2</a:t>
            </a:r>
            <a:endParaRPr lang="en-US" sz="600" dirty="0"/>
          </a:p>
        </p:txBody>
      </p:sp>
      <p:sp>
        <p:nvSpPr>
          <p:cNvPr id="14" name="Text 9"/>
          <p:cNvSpPr/>
          <p:nvPr/>
        </p:nvSpPr>
        <p:spPr>
          <a:xfrm>
            <a:off x="1117997" y="4385537"/>
            <a:ext cx="2737842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均温区 (Soak):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150-180°C，消除温差，激活助焊剂。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857250" y="4678431"/>
            <a:ext cx="189309" cy="141089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16" name="Text 11"/>
          <p:cNvSpPr/>
          <p:nvPr/>
        </p:nvSpPr>
        <p:spPr>
          <a:xfrm>
            <a:off x="857250" y="4678431"/>
            <a:ext cx="189309" cy="14108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1A1A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P3</a:t>
            </a:r>
            <a:endParaRPr lang="en-US" sz="600" dirty="0"/>
          </a:p>
        </p:txBody>
      </p:sp>
      <p:sp>
        <p:nvSpPr>
          <p:cNvPr id="17" name="Text 12"/>
          <p:cNvSpPr/>
          <p:nvPr/>
        </p:nvSpPr>
        <p:spPr>
          <a:xfrm>
            <a:off x="1117997" y="4656999"/>
            <a:ext cx="320575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回流区 (Reflow):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峰值 235-245°C，TAL 60-90s，形成焊点。</a:t>
            </a:r>
            <a:endParaRPr lang="en-US" sz="8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975" y="1592331"/>
            <a:ext cx="157163" cy="15716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72138" y="1574471"/>
            <a:ext cx="1484114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案例：BGA 空焊优化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514975" y="1883439"/>
            <a:ext cx="3200400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针对服务器主板大尺寸 BGA 焊接不良的参数调整对比：</a:t>
            </a:r>
            <a:endParaRPr lang="en-US" sz="750" dirty="0"/>
          </a:p>
        </p:txBody>
      </p:sp>
      <p:sp>
        <p:nvSpPr>
          <p:cNvPr id="21" name="Shape 15"/>
          <p:cNvSpPr/>
          <p:nvPr/>
        </p:nvSpPr>
        <p:spPr>
          <a:xfrm>
            <a:off x="5518547" y="2174546"/>
            <a:ext cx="1276694" cy="283964"/>
          </a:xfrm>
          <a:prstGeom prst="rect">
            <a:avLst/>
          </a:prstGeom>
          <a:solidFill>
            <a:srgbClr val="00FFCC">
              <a:alpha val="10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518547" y="2174546"/>
            <a:ext cx="1276694" cy="283964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参数项</a:t>
            </a:r>
            <a:endParaRPr lang="en-US" sz="650" dirty="0"/>
          </a:p>
        </p:txBody>
      </p:sp>
      <p:sp>
        <p:nvSpPr>
          <p:cNvPr id="23" name="Shape 17"/>
          <p:cNvSpPr/>
          <p:nvPr/>
        </p:nvSpPr>
        <p:spPr>
          <a:xfrm>
            <a:off x="6795241" y="2174546"/>
            <a:ext cx="919200" cy="283964"/>
          </a:xfrm>
          <a:prstGeom prst="rect">
            <a:avLst/>
          </a:prstGeom>
          <a:solidFill>
            <a:srgbClr val="00FFCC">
              <a:alpha val="10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795241" y="2174546"/>
            <a:ext cx="919200" cy="283964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优化前</a:t>
            </a:r>
            <a:endParaRPr lang="en-US" sz="650" dirty="0"/>
          </a:p>
        </p:txBody>
      </p:sp>
      <p:sp>
        <p:nvSpPr>
          <p:cNvPr id="25" name="Shape 19"/>
          <p:cNvSpPr/>
          <p:nvPr/>
        </p:nvSpPr>
        <p:spPr>
          <a:xfrm>
            <a:off x="7714441" y="2174546"/>
            <a:ext cx="997362" cy="283964"/>
          </a:xfrm>
          <a:prstGeom prst="rect">
            <a:avLst/>
          </a:prstGeom>
          <a:solidFill>
            <a:srgbClr val="00FFCC">
              <a:alpha val="10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7714441" y="2174546"/>
            <a:ext cx="997362" cy="283964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优化后</a:t>
            </a:r>
            <a:endParaRPr lang="en-US" sz="650" dirty="0"/>
          </a:p>
        </p:txBody>
      </p:sp>
      <p:sp>
        <p:nvSpPr>
          <p:cNvPr id="27" name="Text 21"/>
          <p:cNvSpPr/>
          <p:nvPr/>
        </p:nvSpPr>
        <p:spPr>
          <a:xfrm>
            <a:off x="5518547" y="2451367"/>
            <a:ext cx="1276694" cy="283964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氮气氧含量</a:t>
            </a:r>
            <a:endParaRPr lang="en-US" sz="650" dirty="0"/>
          </a:p>
        </p:txBody>
      </p:sp>
      <p:sp>
        <p:nvSpPr>
          <p:cNvPr id="28" name="Text 22"/>
          <p:cNvSpPr/>
          <p:nvPr/>
        </p:nvSpPr>
        <p:spPr>
          <a:xfrm>
            <a:off x="6870250" y="2537092"/>
            <a:ext cx="39647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 ppm</a:t>
            </a:r>
            <a:endParaRPr lang="en-US" sz="650" dirty="0"/>
          </a:p>
        </p:txBody>
      </p:sp>
      <p:sp>
        <p:nvSpPr>
          <p:cNvPr id="29" name="Text 23"/>
          <p:cNvSpPr/>
          <p:nvPr/>
        </p:nvSpPr>
        <p:spPr>
          <a:xfrm>
            <a:off x="7789450" y="2531734"/>
            <a:ext cx="44291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50 ppm</a:t>
            </a:r>
            <a:endParaRPr lang="en-US" sz="650" dirty="0"/>
          </a:p>
        </p:txBody>
      </p:sp>
      <p:sp>
        <p:nvSpPr>
          <p:cNvPr id="30" name="Text 24"/>
          <p:cNvSpPr/>
          <p:nvPr/>
        </p:nvSpPr>
        <p:spPr>
          <a:xfrm>
            <a:off x="5518547" y="2735331"/>
            <a:ext cx="1276694" cy="283964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峰值温度</a:t>
            </a:r>
            <a:endParaRPr lang="en-US" sz="650" dirty="0"/>
          </a:p>
        </p:txBody>
      </p:sp>
      <p:sp>
        <p:nvSpPr>
          <p:cNvPr id="31" name="Text 25"/>
          <p:cNvSpPr/>
          <p:nvPr/>
        </p:nvSpPr>
        <p:spPr>
          <a:xfrm>
            <a:off x="6795241" y="2735331"/>
            <a:ext cx="919200" cy="283964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235 °C</a:t>
            </a:r>
            <a:endParaRPr lang="en-US" sz="650" dirty="0"/>
          </a:p>
        </p:txBody>
      </p:sp>
      <p:sp>
        <p:nvSpPr>
          <p:cNvPr id="32" name="Text 26"/>
          <p:cNvSpPr/>
          <p:nvPr/>
        </p:nvSpPr>
        <p:spPr>
          <a:xfrm>
            <a:off x="7789450" y="2815698"/>
            <a:ext cx="332184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242 °C</a:t>
            </a:r>
            <a:endParaRPr lang="en-US" sz="650" dirty="0"/>
          </a:p>
        </p:txBody>
      </p:sp>
      <p:sp>
        <p:nvSpPr>
          <p:cNvPr id="33" name="Text 27"/>
          <p:cNvSpPr/>
          <p:nvPr/>
        </p:nvSpPr>
        <p:spPr>
          <a:xfrm>
            <a:off x="5518547" y="3019295"/>
            <a:ext cx="1276694" cy="283964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回流时间(TAL)</a:t>
            </a:r>
            <a:endParaRPr lang="en-US" sz="650" dirty="0"/>
          </a:p>
        </p:txBody>
      </p:sp>
      <p:sp>
        <p:nvSpPr>
          <p:cNvPr id="34" name="Text 28"/>
          <p:cNvSpPr/>
          <p:nvPr/>
        </p:nvSpPr>
        <p:spPr>
          <a:xfrm>
            <a:off x="6795241" y="3019295"/>
            <a:ext cx="919200" cy="283964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 s</a:t>
            </a:r>
            <a:endParaRPr lang="en-US" sz="650" dirty="0"/>
          </a:p>
        </p:txBody>
      </p:sp>
      <p:sp>
        <p:nvSpPr>
          <p:cNvPr id="35" name="Text 29"/>
          <p:cNvSpPr/>
          <p:nvPr/>
        </p:nvSpPr>
        <p:spPr>
          <a:xfrm>
            <a:off x="7789450" y="3099662"/>
            <a:ext cx="221456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 s</a:t>
            </a:r>
            <a:endParaRPr lang="en-US" sz="650" dirty="0"/>
          </a:p>
        </p:txBody>
      </p:sp>
      <p:sp>
        <p:nvSpPr>
          <p:cNvPr id="36" name="Text 30"/>
          <p:cNvSpPr/>
          <p:nvPr/>
        </p:nvSpPr>
        <p:spPr>
          <a:xfrm>
            <a:off x="5518547" y="3303259"/>
            <a:ext cx="1276694" cy="283964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冷却速率</a:t>
            </a:r>
            <a:endParaRPr lang="en-US" sz="650" dirty="0"/>
          </a:p>
        </p:txBody>
      </p:sp>
      <p:sp>
        <p:nvSpPr>
          <p:cNvPr id="37" name="Text 31"/>
          <p:cNvSpPr/>
          <p:nvPr/>
        </p:nvSpPr>
        <p:spPr>
          <a:xfrm>
            <a:off x="6795241" y="3303259"/>
            <a:ext cx="919200" cy="283964"/>
          </a:xfrm>
          <a:prstGeom prst="rect">
            <a:avLst/>
          </a:prstGeom>
          <a:noFill/>
          <a:ln/>
        </p:spPr>
        <p:txBody>
          <a:bodyPr wrap="none" lIns="85090" tIns="85090" rIns="85090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 °C/s</a:t>
            </a:r>
            <a:endParaRPr lang="en-US" sz="650" dirty="0"/>
          </a:p>
        </p:txBody>
      </p:sp>
      <p:sp>
        <p:nvSpPr>
          <p:cNvPr id="38" name="Text 32"/>
          <p:cNvSpPr/>
          <p:nvPr/>
        </p:nvSpPr>
        <p:spPr>
          <a:xfrm>
            <a:off x="7789450" y="3383626"/>
            <a:ext cx="442913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4.0 °C/s</a:t>
            </a:r>
            <a:endParaRPr lang="en-US" sz="650" dirty="0"/>
          </a:p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4975" y="4012276"/>
            <a:ext cx="100013" cy="100013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643563" y="4003346"/>
            <a:ext cx="5000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调机结论：</a:t>
            </a:r>
            <a:endParaRPr lang="en-US" sz="700" dirty="0"/>
          </a:p>
        </p:txBody>
      </p:sp>
      <p:sp>
        <p:nvSpPr>
          <p:cNvPr id="41" name="Text 34"/>
          <p:cNvSpPr/>
          <p:nvPr/>
        </p:nvSpPr>
        <p:spPr>
          <a:xfrm>
            <a:off x="5514975" y="4228374"/>
            <a:ext cx="32004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通过提升氮气纯度减少氧化，并适当增加热输入（Peak/TAL），确保大热容量 BGA 焊球充分润湿，空焊率降低 85%。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8675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79615"/>
            <a:ext cx="9144000" cy="7144"/>
          </a:xfrm>
          <a:prstGeom prst="rect">
            <a:avLst/>
          </a:prstGeom>
          <a:solidFill>
            <a:srgbClr val="CCFFF5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99197"/>
            <a:ext cx="426839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实战案例：0201 抛料与立碑优化方案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28625" y="1193927"/>
            <a:ext cx="3200400" cy="281999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28825" y="1751140"/>
            <a:ext cx="71437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4444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F1 (润湿力不均)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07269" y="3015583"/>
            <a:ext cx="2043113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立碑机理：焊盘两端表面张力失衡导致的力矩偏差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3918347" y="1193927"/>
            <a:ext cx="864477" cy="319683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3918347" y="1193927"/>
            <a:ext cx="864477" cy="31968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优化维度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782824" y="1193927"/>
            <a:ext cx="1904814" cy="319683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782824" y="1193927"/>
            <a:ext cx="1904814" cy="31968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调机参数 / 动作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687638" y="1193927"/>
            <a:ext cx="2024165" cy="319683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687638" y="1193927"/>
            <a:ext cx="2024165" cy="31968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预期效果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007644" y="1623445"/>
            <a:ext cx="4000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C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吸嘴选型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872121" y="1622552"/>
            <a:ext cx="3286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更换为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200734" y="1617194"/>
            <a:ext cx="86439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0.5mm 高精度吸嘴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687638" y="1513610"/>
            <a:ext cx="2024165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提升吸取稳定性，降低抛料率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007644" y="1948486"/>
            <a:ext cx="4000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C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贴装压力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72121" y="1947593"/>
            <a:ext cx="5875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由 1.5N 降至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459695" y="1942235"/>
            <a:ext cx="24288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1.2N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687638" y="1838651"/>
            <a:ext cx="2024165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减少元器件在锡膏上的弹跳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007644" y="2273526"/>
            <a:ext cx="4000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C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视觉识别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872121" y="2272633"/>
            <a:ext cx="2286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启用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100721" y="2267276"/>
            <a:ext cx="78938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Side Lighting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890106" y="2272633"/>
            <a:ext cx="4286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侧光模式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687638" y="2163691"/>
            <a:ext cx="2024165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增强微小元件边缘轮廓对比度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007644" y="2598567"/>
            <a:ext cx="55899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C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Feeder 校准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872121" y="2597674"/>
            <a:ext cx="2286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执行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100721" y="2592316"/>
            <a:ext cx="103227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Vision Auto-teach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687638" y="2488732"/>
            <a:ext cx="2024165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修正吸取偏移量 (目标 &lt;±0.03mm)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4007644" y="2923608"/>
            <a:ext cx="4000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C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回流匹配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872121" y="2922715"/>
            <a:ext cx="7286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预热斜率控制在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600784" y="2917357"/>
            <a:ext cx="546497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2.0°C/s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687638" y="2813772"/>
            <a:ext cx="2024165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减缓焊膏熔化瞬间的张力冲击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3914775" y="3320979"/>
            <a:ext cx="4800600" cy="692944"/>
          </a:xfrm>
          <a:prstGeom prst="rect">
            <a:avLst/>
          </a:prstGeom>
          <a:solidFill>
            <a:srgbClr val="00FFCC">
              <a:alpha val="5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914775" y="3320979"/>
            <a:ext cx="28575" cy="692944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38" name="Text 35"/>
          <p:cNvSpPr/>
          <p:nvPr/>
        </p:nvSpPr>
        <p:spPr>
          <a:xfrm>
            <a:off x="4021931" y="3428135"/>
            <a:ext cx="458628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专家建议：针对 0201/01005 微小元件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021931" y="3628160"/>
            <a:ext cx="45862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“抛料看吸嘴，立碑看压力”。抛料多为吸嘴磨损或真空堵塞引起；立碑则多与贴装压力及回流温升速率相关。调机时应优先检查 Feeder 吸取中心，再微调 Z 轴行程。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533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46197"/>
            <a:ext cx="9144000" cy="7144"/>
          </a:xfrm>
          <a:prstGeom prst="rect">
            <a:avLst/>
          </a:prstGeom>
          <a:solidFill>
            <a:srgbClr val="CCFFF5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509690"/>
            <a:ext cx="364331" cy="312539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35831" y="522917"/>
            <a:ext cx="43148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AOI检测：2D与3D技术对比及应用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32197" y="1264081"/>
            <a:ext cx="1212400" cy="387548"/>
          </a:xfrm>
          <a:prstGeom prst="rect">
            <a:avLst/>
          </a:prstGeom>
          <a:solidFill>
            <a:srgbClr val="00FFCC">
              <a:alpha val="10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2197" y="1264081"/>
            <a:ext cx="1212400" cy="387548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特性对比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4597" y="1264081"/>
            <a:ext cx="3593250" cy="387548"/>
          </a:xfrm>
          <a:prstGeom prst="rect">
            <a:avLst/>
          </a:prstGeom>
          <a:solidFill>
            <a:srgbClr val="00FFCC">
              <a:alpha val="10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44597" y="1264081"/>
            <a:ext cx="3593250" cy="38754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美陆 2D AOI (Mirtec)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237848" y="1264081"/>
            <a:ext cx="3473955" cy="387548"/>
          </a:xfrm>
          <a:prstGeom prst="rect">
            <a:avLst/>
          </a:prstGeom>
          <a:solidFill>
            <a:srgbClr val="00FFCC">
              <a:alpha val="10000"/>
            </a:srgbClr>
          </a:solidFill>
          <a:ln w="9144">
            <a:solidFill>
              <a:srgbClr val="00FFCC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37848" y="1264081"/>
            <a:ext cx="3473955" cy="38754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奔创 3D AOI (Pemtron)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32197" y="1644486"/>
            <a:ext cx="1212400" cy="376833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成像原理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644597" y="1644486"/>
            <a:ext cx="3593250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多角度LED照明 + 2D平面图像比对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237848" y="1644486"/>
            <a:ext cx="3473955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莫尔条纹投影 + 3D点云高度测量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32197" y="2021318"/>
            <a:ext cx="8279606" cy="37683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432197" y="2021318"/>
            <a:ext cx="1212400" cy="376833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核心优势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644597" y="2021318"/>
            <a:ext cx="3593250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检测速度快，擅长错件、极性、偏移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237848" y="2021318"/>
            <a:ext cx="3473955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精确测量高度/体积，拦截虚焊、浮高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32197" y="2398151"/>
            <a:ext cx="1212400" cy="378619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BGA检测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644597" y="2398151"/>
            <a:ext cx="3593250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仅能检测外围偏移，无法识别内部虚焊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348576" y="2524953"/>
            <a:ext cx="535781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共面性检测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884357" y="2530311"/>
            <a:ext cx="9644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，识别焊球高度差异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32197" y="2776770"/>
            <a:ext cx="8279606" cy="376833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32197" y="2776770"/>
            <a:ext cx="1212400" cy="376833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误判/漏判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644597" y="2776770"/>
            <a:ext cx="3593250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易受颜色、阴影干扰，误判率较高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37848" y="2776770"/>
            <a:ext cx="3473955" cy="37683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3D数据过滤干扰，极低漏判率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28625" y="3442925"/>
            <a:ext cx="4000500" cy="1257300"/>
          </a:xfrm>
          <a:prstGeom prst="rect">
            <a:avLst/>
          </a:prstGeom>
          <a:solidFill>
            <a:srgbClr val="00FFCC">
              <a:alpha val="3000"/>
            </a:srgbClr>
          </a:solidFill>
          <a:ln w="9144">
            <a:solidFill>
              <a:srgbClr val="00FFCC">
                <a:alpha val="20000"/>
              </a:srgbClr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3657237"/>
            <a:ext cx="157163" cy="157163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835819" y="3621518"/>
            <a:ext cx="12501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BGA虚焊拦截方案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1035844" y="3964418"/>
            <a:ext cx="5000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程序精调：</a:t>
            </a:r>
            <a:endParaRPr lang="en-US" sz="700" dirty="0"/>
          </a:p>
        </p:txBody>
      </p:sp>
      <p:sp>
        <p:nvSpPr>
          <p:cNvPr id="32" name="Text 28"/>
          <p:cNvSpPr/>
          <p:nvPr/>
        </p:nvSpPr>
        <p:spPr>
          <a:xfrm>
            <a:off x="1535906" y="3964418"/>
            <a:ext cx="144303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启用BGA专用3D检测模块，设定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2978944" y="3964418"/>
            <a:ext cx="88582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高度阈值 &gt; 0.1mm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3864769" y="3964418"/>
            <a:ext cx="1000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35844" y="4196590"/>
            <a:ext cx="5000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体积监控：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1535906" y="4196590"/>
            <a:ext cx="11001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设定体积公差为标准值的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2636044" y="4196590"/>
            <a:ext cx="60721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80% - 130%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3243263" y="4196590"/>
            <a:ext cx="1000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1035844" y="4426976"/>
            <a:ext cx="400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共面性：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1435894" y="4426976"/>
            <a:ext cx="2400300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实时计算所有焊球顶端平面度，拦截翘曲导致的虚焊。</a:t>
            </a:r>
            <a:endParaRPr lang="en-US" sz="750" dirty="0"/>
          </a:p>
        </p:txBody>
      </p:sp>
      <p:sp>
        <p:nvSpPr>
          <p:cNvPr id="41" name="Shape 37"/>
          <p:cNvSpPr/>
          <p:nvPr/>
        </p:nvSpPr>
        <p:spPr>
          <a:xfrm>
            <a:off x="4714875" y="3442925"/>
            <a:ext cx="4000500" cy="1257300"/>
          </a:xfrm>
          <a:prstGeom prst="rect">
            <a:avLst/>
          </a:prstGeom>
          <a:solidFill>
            <a:srgbClr val="00FFCC">
              <a:alpha val="3000"/>
            </a:srgbClr>
          </a:solidFill>
          <a:ln w="9144">
            <a:solidFill>
              <a:srgbClr val="00FFCC">
                <a:alpha val="20000"/>
              </a:srgbClr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3657237"/>
            <a:ext cx="157163" cy="157163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5122069" y="3621518"/>
            <a:ext cx="9429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品质闭环优化</a:t>
            </a:r>
            <a:endParaRPr lang="en-US" sz="1150" dirty="0"/>
          </a:p>
        </p:txBody>
      </p:sp>
      <p:sp>
        <p:nvSpPr>
          <p:cNvPr id="44" name="Text 39"/>
          <p:cNvSpPr/>
          <p:nvPr/>
        </p:nvSpPr>
        <p:spPr>
          <a:xfrm>
            <a:off x="5322094" y="3964418"/>
            <a:ext cx="5000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数据回溯：</a:t>
            </a:r>
            <a:endParaRPr lang="en-US" sz="700" dirty="0"/>
          </a:p>
        </p:txBody>
      </p:sp>
      <p:sp>
        <p:nvSpPr>
          <p:cNvPr id="45" name="Text 40"/>
          <p:cNvSpPr/>
          <p:nvPr/>
        </p:nvSpPr>
        <p:spPr>
          <a:xfrm>
            <a:off x="5822156" y="3964418"/>
            <a:ext cx="2169914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AOI发现连续少锡报警，自动反馈至DEK印刷机。</a:t>
            </a:r>
            <a:endParaRPr lang="en-US" sz="750" dirty="0"/>
          </a:p>
        </p:txBody>
      </p:sp>
      <p:sp>
        <p:nvSpPr>
          <p:cNvPr id="46" name="Text 41"/>
          <p:cNvSpPr/>
          <p:nvPr/>
        </p:nvSpPr>
        <p:spPr>
          <a:xfrm>
            <a:off x="5322094" y="4194804"/>
            <a:ext cx="400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库管理：</a:t>
            </a:r>
            <a:endParaRPr lang="en-US" sz="700" dirty="0"/>
          </a:p>
        </p:txBody>
      </p:sp>
      <p:sp>
        <p:nvSpPr>
          <p:cNvPr id="47" name="Text 42"/>
          <p:cNvSpPr/>
          <p:nvPr/>
        </p:nvSpPr>
        <p:spPr>
          <a:xfrm>
            <a:off x="5722144" y="4194804"/>
            <a:ext cx="234850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使用Golden Board学习建立标准焊点库，降低误报。</a:t>
            </a:r>
            <a:endParaRPr lang="en-US" sz="750" dirty="0"/>
          </a:p>
        </p:txBody>
      </p:sp>
      <p:sp>
        <p:nvSpPr>
          <p:cNvPr id="48" name="Text 43"/>
          <p:cNvSpPr/>
          <p:nvPr/>
        </p:nvSpPr>
        <p:spPr>
          <a:xfrm>
            <a:off x="5322094" y="4425190"/>
            <a:ext cx="3000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结果：</a:t>
            </a:r>
            <a:endParaRPr lang="en-US" sz="700" dirty="0"/>
          </a:p>
        </p:txBody>
      </p:sp>
      <p:sp>
        <p:nvSpPr>
          <p:cNvPr id="49" name="Text 44"/>
          <p:cNvSpPr/>
          <p:nvPr/>
        </p:nvSpPr>
        <p:spPr>
          <a:xfrm>
            <a:off x="5622131" y="4425190"/>
            <a:ext cx="124122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BGA虚焊漏检率从2D时代的</a:t>
            </a:r>
            <a:endParaRPr lang="en-US" sz="750" dirty="0"/>
          </a:p>
        </p:txBody>
      </p:sp>
      <p:sp>
        <p:nvSpPr>
          <p:cNvPr id="50" name="Text 45"/>
          <p:cNvSpPr/>
          <p:nvPr/>
        </p:nvSpPr>
        <p:spPr>
          <a:xfrm>
            <a:off x="6863358" y="4425190"/>
            <a:ext cx="685800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15% 降至 &lt;1%</a:t>
            </a:r>
            <a:endParaRPr lang="en-US" sz="700" dirty="0"/>
          </a:p>
        </p:txBody>
      </p:sp>
      <p:sp>
        <p:nvSpPr>
          <p:cNvPr id="51" name="Text 46"/>
          <p:cNvSpPr/>
          <p:nvPr/>
        </p:nvSpPr>
        <p:spPr>
          <a:xfrm>
            <a:off x="7549158" y="4425190"/>
            <a:ext cx="1000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。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0533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46197"/>
            <a:ext cx="9144000" cy="7144"/>
          </a:xfrm>
          <a:prstGeom prst="rect">
            <a:avLst/>
          </a:prstGeom>
          <a:solidFill>
            <a:srgbClr val="CCFFF5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509690"/>
            <a:ext cx="364331" cy="312539"/>
          </a:xfrm>
          <a:prstGeom prst="rect">
            <a:avLst/>
          </a:prstGeom>
          <a:noFill/>
          <a:ln/>
        </p:spPr>
        <p:txBody>
          <a:bodyPr wrap="none" lIns="85090" tIns="42545" rIns="85090" bIns="42545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935831" y="522917"/>
            <a:ext cx="3143250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课后考核：实战技能验证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28625" y="1260509"/>
            <a:ext cx="4000500" cy="358616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39103"/>
            <a:ext cx="117872" cy="1571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0809" y="1403384"/>
            <a:ext cx="9429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理论知识测评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71500" y="1778431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Q1.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878681" y="1790933"/>
            <a:ext cx="269319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DEK印刷机在对位时，±17.0μm 精度主要通过什么实现？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71500" y="1992743"/>
            <a:ext cx="3714750" cy="14466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刮刀压力 B. CCD相机与MARK点补偿 C. 擦拭频率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571500" y="2283851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Q2.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878681" y="2296353"/>
            <a:ext cx="19163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奔创SPI采用哪种技术重建锡膏3D形貌？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71500" y="2498164"/>
            <a:ext cx="3714750" cy="14466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激光扫描 B. 莫尔条纹相位偏折 C. 2D阴影分析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571500" y="2789272"/>
            <a:ext cx="20359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878681" y="2801773"/>
            <a:ext cx="25717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回流焊中，哪一阶段主要负责激活助焊剂并消除温差？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71500" y="3003584"/>
            <a:ext cx="3714750" cy="14466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A. 预热区 B. 均温区 C. 回流区 D. 冷却区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571500" y="3291120"/>
            <a:ext cx="371475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Q4.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填空：Fuji贴片机抛料率优化的目标通常应控制在 </a:t>
            </a:r>
            <a:r>
              <a:rPr lang="en-US" sz="800" dirty="0">
                <a:solidFill>
                  <a:srgbClr val="00FF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____</a:t>
            </a: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以下。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4714875" y="1260509"/>
            <a:ext cx="4000500" cy="358616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439103"/>
            <a:ext cx="157163" cy="15716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86350" y="1403384"/>
            <a:ext cx="110013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简答与实操验证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4857750" y="1774859"/>
            <a:ext cx="371475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Q5.</a:t>
            </a: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简述：当AOI报出BGA大量虚焊时，应从哪些调机参数入手优化？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4857750" y="2078468"/>
            <a:ext cx="3714750" cy="528638"/>
          </a:xfrm>
          <a:prstGeom prst="rect">
            <a:avLst/>
          </a:prstGeom>
          <a:solidFill>
            <a:srgbClr val="00FFCC">
              <a:alpha val="5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4857750" y="2078468"/>
            <a:ext cx="21431" cy="528638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26" name="Text 21"/>
          <p:cNvSpPr/>
          <p:nvPr/>
        </p:nvSpPr>
        <p:spPr>
          <a:xfrm>
            <a:off x="4964906" y="2185625"/>
            <a:ext cx="350043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实操任务 A：DEK 压力判定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4964906" y="2366004"/>
            <a:ext cx="3500438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在设备运行状态下，观察锡膏滚动情况，判断当前刮刀压力是否合适，并说明理由。</a:t>
            </a:r>
            <a:endParaRPr lang="en-US" sz="650" dirty="0"/>
          </a:p>
        </p:txBody>
      </p:sp>
      <p:sp>
        <p:nvSpPr>
          <p:cNvPr id="28" name="Shape 23"/>
          <p:cNvSpPr/>
          <p:nvPr/>
        </p:nvSpPr>
        <p:spPr>
          <a:xfrm>
            <a:off x="4857750" y="2714262"/>
            <a:ext cx="3714750" cy="528638"/>
          </a:xfrm>
          <a:prstGeom prst="rect">
            <a:avLst/>
          </a:prstGeom>
          <a:solidFill>
            <a:srgbClr val="00FFCC">
              <a:alpha val="5000"/>
            </a:srgbClr>
          </a:solidFill>
          <a:ln/>
        </p:spPr>
      </p:sp>
      <p:sp>
        <p:nvSpPr>
          <p:cNvPr id="29" name="Shape 24"/>
          <p:cNvSpPr/>
          <p:nvPr/>
        </p:nvSpPr>
        <p:spPr>
          <a:xfrm>
            <a:off x="4857750" y="2714262"/>
            <a:ext cx="21431" cy="528638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30" name="Text 25"/>
          <p:cNvSpPr/>
          <p:nvPr/>
        </p:nvSpPr>
        <p:spPr>
          <a:xfrm>
            <a:off x="4964906" y="2821418"/>
            <a:ext cx="350043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实操任务 B：BTU 曲线分析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4964906" y="3001798"/>
            <a:ext cx="3500438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使用KIC测温仪导出当前产品曲线，分析峰值温度与TAL是否符合锡膏TDS要求。</a:t>
            </a:r>
            <a:endParaRPr lang="en-US" sz="650" dirty="0"/>
          </a:p>
        </p:txBody>
      </p:sp>
      <p:sp>
        <p:nvSpPr>
          <p:cNvPr id="32" name="Shape 27"/>
          <p:cNvSpPr/>
          <p:nvPr/>
        </p:nvSpPr>
        <p:spPr>
          <a:xfrm>
            <a:off x="4857750" y="3350056"/>
            <a:ext cx="3714750" cy="528638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3" name="Shape 28"/>
          <p:cNvSpPr/>
          <p:nvPr/>
        </p:nvSpPr>
        <p:spPr>
          <a:xfrm>
            <a:off x="4857750" y="3350056"/>
            <a:ext cx="21431" cy="5286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29"/>
          <p:cNvSpPr/>
          <p:nvPr/>
        </p:nvSpPr>
        <p:spPr>
          <a:xfrm>
            <a:off x="4964906" y="3457212"/>
            <a:ext cx="3500438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评分标准</a:t>
            </a:r>
            <a:endParaRPr lang="en-US" sz="700" dirty="0"/>
          </a:p>
        </p:txBody>
      </p:sp>
      <p:sp>
        <p:nvSpPr>
          <p:cNvPr id="35" name="Text 30"/>
          <p:cNvSpPr/>
          <p:nvPr/>
        </p:nvSpPr>
        <p:spPr>
          <a:xfrm>
            <a:off x="4964906" y="3637592"/>
            <a:ext cx="3500438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理论(40%) + 简答(30%) + 实操(30%)。总分85分以上准予上岗。</a:t>
            </a:r>
            <a:endParaRPr lang="en-US" sz="650" dirty="0"/>
          </a:p>
        </p:txBody>
      </p:sp>
      <p:sp>
        <p:nvSpPr>
          <p:cNvPr id="36" name="Shape 31"/>
          <p:cNvSpPr/>
          <p:nvPr/>
        </p:nvSpPr>
        <p:spPr>
          <a:xfrm rot="-300000">
            <a:off x="7145536" y="4625578"/>
            <a:ext cx="1412677" cy="146447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00FFC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 rot="-300000">
            <a:off x="6988373" y="4539853"/>
            <a:ext cx="1727002" cy="317896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QUALIFIED FOR OPERATION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8675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79615"/>
            <a:ext cx="9144000" cy="7144"/>
          </a:xfrm>
          <a:prstGeom prst="rect">
            <a:avLst/>
          </a:prstGeom>
          <a:solidFill>
            <a:srgbClr val="CCFFF5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99197"/>
            <a:ext cx="447198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实战案例：厚板/大热容量组件温差优化</a:t>
            </a:r>
            <a:endParaRPr lang="en-US" sz="1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395738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5788" y="1377879"/>
            <a:ext cx="170557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Delta T (温差) 成因分析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28625" y="1722565"/>
            <a:ext cx="4000500" cy="2048777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65440"/>
            <a:ext cx="71438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0094" y="1886871"/>
            <a:ext cx="14733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热容量差异 (Heat Capacity)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750094" y="2065465"/>
            <a:ext cx="317539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大尺寸 BGA/电感与周围小电阻受热速率不一致，导致中心点升温滞后。</a:t>
            </a:r>
            <a:endParaRPr lang="en-US" sz="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48353"/>
            <a:ext cx="114300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2956" y="2469784"/>
            <a:ext cx="143589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热风循环不均 (Convection)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792956" y="2648378"/>
            <a:ext cx="270033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炉内边缘与中心风速差异，导致板面各处热对流系数不统一。</a:t>
            </a:r>
            <a:endParaRPr lang="en-US" sz="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031266"/>
            <a:ext cx="114300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92956" y="3052697"/>
            <a:ext cx="8001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多层板导热滞后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792956" y="3231291"/>
            <a:ext cx="3362920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12层以上高密度 PCB 内层铜箔吸收大量热能，延缓了焊盘达到熔点的时间。</a:t>
            </a:r>
            <a:endParaRPr lang="en-US" sz="7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1395738"/>
            <a:ext cx="157163" cy="15716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72038" y="1377879"/>
            <a:ext cx="1478756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BTU 回流焊优化对策</a:t>
            </a:r>
            <a:endParaRPr lang="en-US" sz="1100" dirty="0"/>
          </a:p>
        </p:txBody>
      </p:sp>
      <p:sp>
        <p:nvSpPr>
          <p:cNvPr id="20" name="Shape 12"/>
          <p:cNvSpPr/>
          <p:nvPr/>
        </p:nvSpPr>
        <p:spPr>
          <a:xfrm>
            <a:off x="4718447" y="1722565"/>
            <a:ext cx="800630" cy="319683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21" name="Text 13"/>
          <p:cNvSpPr/>
          <p:nvPr/>
        </p:nvSpPr>
        <p:spPr>
          <a:xfrm>
            <a:off x="4718447" y="1722565"/>
            <a:ext cx="800630" cy="319683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优化维度</a:t>
            </a:r>
            <a:endParaRPr lang="en-US" sz="700" dirty="0"/>
          </a:p>
        </p:txBody>
      </p:sp>
      <p:sp>
        <p:nvSpPr>
          <p:cNvPr id="22" name="Shape 14"/>
          <p:cNvSpPr/>
          <p:nvPr/>
        </p:nvSpPr>
        <p:spPr>
          <a:xfrm>
            <a:off x="5519077" y="1722565"/>
            <a:ext cx="1769306" cy="319683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23" name="Text 15"/>
          <p:cNvSpPr/>
          <p:nvPr/>
        </p:nvSpPr>
        <p:spPr>
          <a:xfrm>
            <a:off x="5519077" y="1722565"/>
            <a:ext cx="1769306" cy="31968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调机动作</a:t>
            </a:r>
            <a:endParaRPr lang="en-US" sz="700" dirty="0"/>
          </a:p>
        </p:txBody>
      </p:sp>
      <p:sp>
        <p:nvSpPr>
          <p:cNvPr id="24" name="Shape 16"/>
          <p:cNvSpPr/>
          <p:nvPr/>
        </p:nvSpPr>
        <p:spPr>
          <a:xfrm>
            <a:off x="7288383" y="1722565"/>
            <a:ext cx="1423420" cy="319683"/>
          </a:xfrm>
          <a:prstGeom prst="rect">
            <a:avLst/>
          </a:prstGeom>
          <a:solidFill>
            <a:srgbClr val="00FFCC">
              <a:alpha val="10000"/>
            </a:srgbClr>
          </a:solidFill>
          <a:ln/>
        </p:spPr>
      </p:sp>
      <p:sp>
        <p:nvSpPr>
          <p:cNvPr id="25" name="Text 17"/>
          <p:cNvSpPr/>
          <p:nvPr/>
        </p:nvSpPr>
        <p:spPr>
          <a:xfrm>
            <a:off x="7288383" y="1722565"/>
            <a:ext cx="1423420" cy="31968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F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建议数值</a:t>
            </a:r>
            <a:endParaRPr lang="en-US" sz="700" dirty="0"/>
          </a:p>
        </p:txBody>
      </p:sp>
      <p:sp>
        <p:nvSpPr>
          <p:cNvPr id="26" name="Text 18"/>
          <p:cNvSpPr/>
          <p:nvPr/>
        </p:nvSpPr>
        <p:spPr>
          <a:xfrm>
            <a:off x="4807744" y="2151190"/>
            <a:ext cx="4000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C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链速调整</a:t>
            </a:r>
            <a:endParaRPr lang="en-US" sz="700" dirty="0"/>
          </a:p>
        </p:txBody>
      </p:sp>
      <p:sp>
        <p:nvSpPr>
          <p:cNvPr id="27" name="Text 19"/>
          <p:cNvSpPr/>
          <p:nvPr/>
        </p:nvSpPr>
        <p:spPr>
          <a:xfrm>
            <a:off x="5519077" y="2042247"/>
            <a:ext cx="1769306" cy="32325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降低链速，延长受热时间</a:t>
            </a:r>
            <a:endParaRPr lang="en-US" sz="750" dirty="0"/>
          </a:p>
        </p:txBody>
      </p:sp>
      <p:sp>
        <p:nvSpPr>
          <p:cNvPr id="28" name="Text 20"/>
          <p:cNvSpPr/>
          <p:nvPr/>
        </p:nvSpPr>
        <p:spPr>
          <a:xfrm>
            <a:off x="7377680" y="2137795"/>
            <a:ext cx="85010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-5 ~ 10 cm/min</a:t>
            </a:r>
            <a:endParaRPr lang="en-US" sz="750" dirty="0"/>
          </a:p>
        </p:txBody>
      </p:sp>
      <p:sp>
        <p:nvSpPr>
          <p:cNvPr id="29" name="Text 21"/>
          <p:cNvSpPr/>
          <p:nvPr/>
        </p:nvSpPr>
        <p:spPr>
          <a:xfrm>
            <a:off x="4807744" y="2474444"/>
            <a:ext cx="4000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C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风速控制</a:t>
            </a:r>
            <a:endParaRPr lang="en-US" sz="700" dirty="0"/>
          </a:p>
        </p:txBody>
      </p:sp>
      <p:sp>
        <p:nvSpPr>
          <p:cNvPr id="30" name="Text 22"/>
          <p:cNvSpPr/>
          <p:nvPr/>
        </p:nvSpPr>
        <p:spPr>
          <a:xfrm>
            <a:off x="5519077" y="2365502"/>
            <a:ext cx="1769306" cy="32325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提升中心温区风扇转速</a:t>
            </a:r>
            <a:endParaRPr lang="en-US" sz="750" dirty="0"/>
          </a:p>
        </p:txBody>
      </p:sp>
      <p:sp>
        <p:nvSpPr>
          <p:cNvPr id="31" name="Text 23"/>
          <p:cNvSpPr/>
          <p:nvPr/>
        </p:nvSpPr>
        <p:spPr>
          <a:xfrm>
            <a:off x="7377680" y="2461050"/>
            <a:ext cx="85010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+500 ~ 800 RPM</a:t>
            </a:r>
            <a:endParaRPr lang="en-US" sz="750" dirty="0"/>
          </a:p>
        </p:txBody>
      </p:sp>
      <p:sp>
        <p:nvSpPr>
          <p:cNvPr id="32" name="Text 24"/>
          <p:cNvSpPr/>
          <p:nvPr/>
        </p:nvSpPr>
        <p:spPr>
          <a:xfrm>
            <a:off x="4807744" y="2797699"/>
            <a:ext cx="4000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C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均温补偿</a:t>
            </a:r>
            <a:endParaRPr lang="en-US" sz="700" dirty="0"/>
          </a:p>
        </p:txBody>
      </p:sp>
      <p:sp>
        <p:nvSpPr>
          <p:cNvPr id="33" name="Text 25"/>
          <p:cNvSpPr/>
          <p:nvPr/>
        </p:nvSpPr>
        <p:spPr>
          <a:xfrm>
            <a:off x="5519077" y="2688757"/>
            <a:ext cx="1769306" cy="32325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提高均温区 (Soak) 温度</a:t>
            </a:r>
            <a:endParaRPr lang="en-US" sz="750" dirty="0"/>
          </a:p>
        </p:txBody>
      </p:sp>
      <p:sp>
        <p:nvSpPr>
          <p:cNvPr id="34" name="Text 26"/>
          <p:cNvSpPr/>
          <p:nvPr/>
        </p:nvSpPr>
        <p:spPr>
          <a:xfrm>
            <a:off x="7377680" y="2784304"/>
            <a:ext cx="546497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+5 ~ 8 °C</a:t>
            </a:r>
            <a:endParaRPr lang="en-US" sz="750" dirty="0"/>
          </a:p>
        </p:txBody>
      </p:sp>
      <p:sp>
        <p:nvSpPr>
          <p:cNvPr id="35" name="Text 27"/>
          <p:cNvSpPr/>
          <p:nvPr/>
        </p:nvSpPr>
        <p:spPr>
          <a:xfrm>
            <a:off x="4807744" y="3120954"/>
            <a:ext cx="4000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CCC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氮气纯度</a:t>
            </a:r>
            <a:endParaRPr lang="en-US" sz="700" dirty="0"/>
          </a:p>
        </p:txBody>
      </p:sp>
      <p:sp>
        <p:nvSpPr>
          <p:cNvPr id="36" name="Text 28"/>
          <p:cNvSpPr/>
          <p:nvPr/>
        </p:nvSpPr>
        <p:spPr>
          <a:xfrm>
            <a:off x="5519077" y="3012011"/>
            <a:ext cx="1769306" cy="32325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降低氧含量，增强润湿</a:t>
            </a:r>
            <a:endParaRPr lang="en-US" sz="750" dirty="0"/>
          </a:p>
        </p:txBody>
      </p:sp>
      <p:sp>
        <p:nvSpPr>
          <p:cNvPr id="37" name="Text 29"/>
          <p:cNvSpPr/>
          <p:nvPr/>
        </p:nvSpPr>
        <p:spPr>
          <a:xfrm>
            <a:off x="7377680" y="3107559"/>
            <a:ext cx="48577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50 PPM</a:t>
            </a:r>
            <a:endParaRPr lang="en-US" sz="750" dirty="0"/>
          </a:p>
        </p:txBody>
      </p:sp>
      <p:sp>
        <p:nvSpPr>
          <p:cNvPr id="38" name="Shape 30"/>
          <p:cNvSpPr/>
          <p:nvPr/>
        </p:nvSpPr>
        <p:spPr>
          <a:xfrm>
            <a:off x="4714875" y="3553151"/>
            <a:ext cx="4000500" cy="707231"/>
          </a:xfrm>
          <a:prstGeom prst="rect">
            <a:avLst/>
          </a:prstGeom>
          <a:solidFill>
            <a:srgbClr val="00FFCC"/>
          </a:solidFill>
          <a:ln/>
        </p:spPr>
      </p:sp>
      <p:sp>
        <p:nvSpPr>
          <p:cNvPr id="39" name="Text 31"/>
          <p:cNvSpPr/>
          <p:nvPr/>
        </p:nvSpPr>
        <p:spPr>
          <a:xfrm>
            <a:off x="4714875" y="3553151"/>
            <a:ext cx="4000500" cy="707231"/>
          </a:xfrm>
          <a:prstGeom prst="rect">
            <a:avLst/>
          </a:prstGeom>
          <a:noFill/>
          <a:ln/>
        </p:spPr>
        <p:txBody>
          <a:bodyPr wrap="square" lIns="212598" tIns="127508" rIns="212598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1A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专家结论：解决厚板温差的核心在于“以时间换空间”。通过降低链速并配合高风速热对流，可将 Delta T 控制在 5°C 以内，彻底根治 BGA 虚焊。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8675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79615"/>
            <a:ext cx="9144000" cy="7144"/>
          </a:xfrm>
          <a:prstGeom prst="rect">
            <a:avLst/>
          </a:prstGeom>
          <a:solidFill>
            <a:srgbClr val="CCFFF5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99197"/>
            <a:ext cx="512028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调机参数汇总：DEK / FUJI / BTU 专家建议值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85750" y="1193927"/>
            <a:ext cx="2762231" cy="204311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FCC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92906" y="1301083"/>
            <a:ext cx="2547919" cy="28575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DEK 印刷机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92906" y="1693990"/>
            <a:ext cx="840870" cy="189309"/>
          </a:xfrm>
          <a:prstGeom prst="rect">
            <a:avLst/>
          </a:prstGeom>
          <a:noFill/>
          <a:ln/>
        </p:spPr>
        <p:txBody>
          <a:bodyPr wrap="none" lIns="8509" tIns="8509" rIns="8509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关键参数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1233776" y="1693990"/>
            <a:ext cx="1707049" cy="189309"/>
          </a:xfrm>
          <a:prstGeom prst="rect">
            <a:avLst/>
          </a:prstGeom>
          <a:noFill/>
          <a:ln/>
        </p:spPr>
        <p:txBody>
          <a:bodyPr wrap="square" lIns="8509" tIns="8509" rIns="8509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建议范围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92906" y="1883299"/>
            <a:ext cx="840870" cy="242888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刮刀压力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233776" y="1883299"/>
            <a:ext cx="1707049" cy="24288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4 - 8 kgf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392906" y="2126186"/>
            <a:ext cx="840870" cy="246459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印刷速度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1233776" y="2126186"/>
            <a:ext cx="1707049" cy="24645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30 - 60 mm/s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392906" y="2372646"/>
            <a:ext cx="840870" cy="246459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脱模速度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233776" y="2372646"/>
            <a:ext cx="1707049" cy="24645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0.5 - 1.0 mm/s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92906" y="2619105"/>
            <a:ext cx="840870" cy="246459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脱模距离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1233776" y="2619105"/>
            <a:ext cx="1707049" cy="24645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0.5 - 1.5 mm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392906" y="2865565"/>
            <a:ext cx="840870" cy="246459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擦拭频率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1233776" y="2865565"/>
            <a:ext cx="1707049" cy="24645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3 - 5 pcs/wipe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3190856" y="1193927"/>
            <a:ext cx="2762259" cy="204311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FCC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98013" y="1301083"/>
            <a:ext cx="2547947" cy="28575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FUJI 贴片机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298013" y="1693990"/>
            <a:ext cx="1233887" cy="189309"/>
          </a:xfrm>
          <a:prstGeom prst="rect">
            <a:avLst/>
          </a:prstGeom>
          <a:noFill/>
          <a:ln/>
        </p:spPr>
        <p:txBody>
          <a:bodyPr wrap="none" lIns="8509" tIns="8509" rIns="8509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关键参数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531900" y="1693990"/>
            <a:ext cx="1314059" cy="189309"/>
          </a:xfrm>
          <a:prstGeom prst="rect">
            <a:avLst/>
          </a:prstGeom>
          <a:noFill/>
          <a:ln/>
        </p:spPr>
        <p:txBody>
          <a:bodyPr wrap="square" lIns="8509" tIns="8509" rIns="8509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建议范围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3298013" y="1883299"/>
            <a:ext cx="1233887" cy="242888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贴装压力 (0201)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531900" y="1883299"/>
            <a:ext cx="1314059" cy="24288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1.0 - 1.2 N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3298013" y="2126186"/>
            <a:ext cx="1233887" cy="246459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贴装压力 (BGA)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4531900" y="2126186"/>
            <a:ext cx="1314059" cy="24645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1.5 - 2.0 N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3298013" y="2372646"/>
            <a:ext cx="1233887" cy="246459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吸取中心偏差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4531900" y="2372646"/>
            <a:ext cx="1314059" cy="24645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±0.03 mm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3298013" y="2619105"/>
            <a:ext cx="1233887" cy="246459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真空检测阈值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4531900" y="2619105"/>
            <a:ext cx="1314059" cy="24645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-60 ~ -80 kPa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3298013" y="2865565"/>
            <a:ext cx="1233887" cy="246459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抛料率目标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4531900" y="2865565"/>
            <a:ext cx="1314059" cy="24645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0.01 %</a:t>
            </a:r>
            <a:endParaRPr lang="en-US" sz="600" dirty="0"/>
          </a:p>
        </p:txBody>
      </p:sp>
      <p:sp>
        <p:nvSpPr>
          <p:cNvPr id="34" name="Shape 31"/>
          <p:cNvSpPr/>
          <p:nvPr/>
        </p:nvSpPr>
        <p:spPr>
          <a:xfrm>
            <a:off x="6095991" y="1193927"/>
            <a:ext cx="2762231" cy="204311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FCC">
                <a:alpha val="2000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03147" y="1301083"/>
            <a:ext cx="2547919" cy="28575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BTU 回流焊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203147" y="1693990"/>
            <a:ext cx="1142386" cy="189309"/>
          </a:xfrm>
          <a:prstGeom prst="rect">
            <a:avLst/>
          </a:prstGeom>
          <a:noFill/>
          <a:ln/>
        </p:spPr>
        <p:txBody>
          <a:bodyPr wrap="none" lIns="8509" tIns="8509" rIns="8509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关键参数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7345533" y="1693990"/>
            <a:ext cx="1405533" cy="189309"/>
          </a:xfrm>
          <a:prstGeom prst="rect">
            <a:avLst/>
          </a:prstGeom>
          <a:noFill/>
          <a:ln/>
        </p:spPr>
        <p:txBody>
          <a:bodyPr wrap="square" lIns="8509" tIns="8509" rIns="8509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88888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建议范围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6203147" y="1883299"/>
            <a:ext cx="1142386" cy="242888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均温区时间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7345533" y="1883299"/>
            <a:ext cx="1405533" cy="242888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60 - 120 s</a:t>
            </a:r>
            <a:endParaRPr lang="en-US" sz="600" dirty="0"/>
          </a:p>
        </p:txBody>
      </p:sp>
      <p:sp>
        <p:nvSpPr>
          <p:cNvPr id="40" name="Text 37"/>
          <p:cNvSpPr/>
          <p:nvPr/>
        </p:nvSpPr>
        <p:spPr>
          <a:xfrm>
            <a:off x="6203147" y="2126186"/>
            <a:ext cx="1142386" cy="246459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回流时间 (TAL)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7345533" y="2126186"/>
            <a:ext cx="1405533" cy="24645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60 - 90 s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6203147" y="2372646"/>
            <a:ext cx="1142386" cy="246459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峰值温度</a:t>
            </a:r>
            <a:endParaRPr lang="en-US" sz="600" dirty="0"/>
          </a:p>
        </p:txBody>
      </p:sp>
      <p:sp>
        <p:nvSpPr>
          <p:cNvPr id="43" name="Text 40"/>
          <p:cNvSpPr/>
          <p:nvPr/>
        </p:nvSpPr>
        <p:spPr>
          <a:xfrm>
            <a:off x="7345533" y="2372646"/>
            <a:ext cx="1405533" cy="24645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235 - 248 °C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6203147" y="2619105"/>
            <a:ext cx="1142386" cy="246459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升温斜率</a:t>
            </a:r>
            <a:endParaRPr lang="en-US" sz="600" dirty="0"/>
          </a:p>
        </p:txBody>
      </p:sp>
      <p:sp>
        <p:nvSpPr>
          <p:cNvPr id="45" name="Text 42"/>
          <p:cNvSpPr/>
          <p:nvPr/>
        </p:nvSpPr>
        <p:spPr>
          <a:xfrm>
            <a:off x="7345533" y="2619105"/>
            <a:ext cx="1405533" cy="24645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1.0 - 3.0 °C/s</a:t>
            </a:r>
            <a:endParaRPr lang="en-US" sz="600" dirty="0"/>
          </a:p>
        </p:txBody>
      </p:sp>
      <p:sp>
        <p:nvSpPr>
          <p:cNvPr id="46" name="Text 43"/>
          <p:cNvSpPr/>
          <p:nvPr/>
        </p:nvSpPr>
        <p:spPr>
          <a:xfrm>
            <a:off x="6203147" y="2865565"/>
            <a:ext cx="1142386" cy="246459"/>
          </a:xfrm>
          <a:prstGeom prst="rect">
            <a:avLst/>
          </a:prstGeom>
          <a:noFill/>
          <a:ln/>
        </p:spPr>
        <p:txBody>
          <a:bodyPr wrap="none" lIns="0" tIns="68072" rIns="0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氧含量 (N2)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7345533" y="2865565"/>
            <a:ext cx="1405533" cy="246459"/>
          </a:xfrm>
          <a:prstGeom prst="rect">
            <a:avLst/>
          </a:prstGeom>
          <a:noFill/>
          <a:ln/>
        </p:spPr>
        <p:txBody>
          <a:bodyPr wrap="square" lIns="0" tIns="68072" rIns="0" bIns="68072" rtlCol="0" anchor="ctr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FC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500 PPM</a:t>
            </a:r>
            <a:endParaRPr lang="en-US" sz="600" dirty="0"/>
          </a:p>
        </p:txBody>
      </p:sp>
      <p:sp>
        <p:nvSpPr>
          <p:cNvPr id="48" name="Shape 45"/>
          <p:cNvSpPr/>
          <p:nvPr/>
        </p:nvSpPr>
        <p:spPr>
          <a:xfrm>
            <a:off x="285750" y="3508502"/>
            <a:ext cx="8572472" cy="416123"/>
          </a:xfrm>
          <a:prstGeom prst="rect">
            <a:avLst/>
          </a:prstGeom>
          <a:solidFill>
            <a:srgbClr val="00FFCC">
              <a:alpha val="10000"/>
            </a:srgbClr>
          </a:solidFill>
          <a:ln w="9144">
            <a:solidFill>
              <a:srgbClr val="00FFCC"/>
            </a:solidFill>
            <a:prstDash val="dash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13" y="3653163"/>
            <a:ext cx="128588" cy="128588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1137838" y="3638876"/>
            <a:ext cx="80367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查：数据驱动</a:t>
            </a:r>
            <a:endParaRPr lang="en-US" sz="900" dirty="0"/>
          </a:p>
        </p:txBody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350" y="3653163"/>
            <a:ext cx="160734" cy="128588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3263522" y="3638876"/>
            <a:ext cx="80367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对：首件对比</a:t>
            </a:r>
            <a:endParaRPr lang="en-US" sz="900" dirty="0"/>
          </a:p>
        </p:txBody>
      </p:sp>
      <p:pic>
        <p:nvPicPr>
          <p:cNvPr id="5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034" y="3653163"/>
            <a:ext cx="80367" cy="128588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5308839" y="3638876"/>
            <a:ext cx="80367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动：单一变量</a:t>
            </a:r>
            <a:endParaRPr lang="en-US" sz="900" dirty="0"/>
          </a:p>
        </p:txBody>
      </p:sp>
      <p:pic>
        <p:nvPicPr>
          <p:cNvPr id="5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2351" y="3653163"/>
            <a:ext cx="128588" cy="128588"/>
          </a:xfrm>
          <a:prstGeom prst="rect">
            <a:avLst/>
          </a:prstGeom>
        </p:spPr>
      </p:pic>
      <p:sp>
        <p:nvSpPr>
          <p:cNvPr id="56" name="Text 49"/>
          <p:cNvSpPr/>
          <p:nvPr/>
        </p:nvSpPr>
        <p:spPr>
          <a:xfrm>
            <a:off x="7402376" y="3638876"/>
            <a:ext cx="80367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FF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验：结果验证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2026-06-23T08:36:45Z</dcterms:created>
  <dcterms:modified xsi:type="dcterms:W3CDTF">2026-06-23T08:36:45Z</dcterms:modified>
</cp:coreProperties>
</file>